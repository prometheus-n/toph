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3" r:id="rId10"/>
    <p:sldId id="264" r:id="rId11"/>
    <p:sldId id="265" r:id="rId12"/>
    <p:sldId id="268" r:id="rId13"/>
    <p:sldId id="267"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65" autoAdjust="0"/>
  </p:normalViewPr>
  <p:slideViewPr>
    <p:cSldViewPr snapToGrid="0">
      <p:cViewPr varScale="1">
        <p:scale>
          <a:sx n="58" d="100"/>
          <a:sy n="58" d="100"/>
        </p:scale>
        <p:origin x="9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5CEF-5E62-12FC-467F-FDB7E24B3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E7C724-B0DA-4462-4676-2D7308C460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FA4C1D-50D6-E447-F401-D3FBF72B927F}"/>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E8B92752-222A-EC2B-5728-F0E86872AD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553EE3-14CD-529E-03BB-BBB9786171F7}"/>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1908075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1898-262E-1FBC-C547-C6F7676D02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44A167-62D0-E0A3-235C-CBD04D5028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439A50-0E64-7E80-87CB-63B9F30BEBB7}"/>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EF92EE4B-3288-AA43-4B0D-89F50771AE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5F4BCD-4CCF-A20C-C26C-AE92BE702E08}"/>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1133288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8A9B4-3B8C-3587-437C-BDF459C0EC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4373BB0-67C3-1BB9-AADF-173BCF884B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0B9F02-55B9-2CCC-AD06-1104177ACCB2}"/>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08C9B9FA-4275-88BF-DDE4-217890900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EC9D9-FED2-EBBF-5D5A-FF871E2A4B9F}"/>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75640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487CD-68BD-F12E-0CC4-F4D6EEE695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A91A00-6014-62C9-BB79-871B995DF7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3675B3-1F62-31D8-8FF3-3C81237540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1744EE-6ADB-ACDE-A744-E1F93CFF0874}"/>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6" name="Footer Placeholder 5">
            <a:extLst>
              <a:ext uri="{FF2B5EF4-FFF2-40B4-BE49-F238E27FC236}">
                <a16:creationId xmlns:a16="http://schemas.microsoft.com/office/drawing/2014/main" id="{A7C924FE-CAEE-5214-7B65-1AA0DCE0AF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3D623E-00F3-EE8E-E2D0-FC7A2FBE523D}"/>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3279449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36DEC-C43C-081C-FAB8-A67AE45D23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9693C-AF8D-F721-1446-6E550847B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C5B01-3C09-1507-0523-02DF49DB0D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644113-4693-1582-A675-A4E31C43BF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35E77F-DF84-85CD-CE23-9A67B852F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0F1319-2262-2C63-935F-71264985D5A2}"/>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8" name="Footer Placeholder 7">
            <a:extLst>
              <a:ext uri="{FF2B5EF4-FFF2-40B4-BE49-F238E27FC236}">
                <a16:creationId xmlns:a16="http://schemas.microsoft.com/office/drawing/2014/main" id="{F189F90A-133A-6D52-4F00-8E43F421D9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2F6B6C-5F60-B3D2-FCDD-B828B9CD86B8}"/>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2112994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3351-2E6C-B7C7-A1D6-DA3DE51DF1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2766F3-AE87-B2C5-15B5-EA787EC205B6}"/>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4" name="Footer Placeholder 3">
            <a:extLst>
              <a:ext uri="{FF2B5EF4-FFF2-40B4-BE49-F238E27FC236}">
                <a16:creationId xmlns:a16="http://schemas.microsoft.com/office/drawing/2014/main" id="{6EDF59FA-432D-00A3-57A8-966EE5651E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4DA14A-0BED-9787-C6B8-995A66BCF0A1}"/>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712407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B236D-1FFA-EA89-D950-3195D8B50E03}"/>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3" name="Footer Placeholder 2">
            <a:extLst>
              <a:ext uri="{FF2B5EF4-FFF2-40B4-BE49-F238E27FC236}">
                <a16:creationId xmlns:a16="http://schemas.microsoft.com/office/drawing/2014/main" id="{27DB37F0-1A8A-715F-1DC3-1D5B4B9789D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24125E-C780-FBA1-9D56-6A67BFD6F5C2}"/>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316332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2F2B6-5C69-BADF-61DA-99EA887B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64B908-2F66-099C-F71F-0E2B80FD0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C406E86-9A81-38BD-D17C-7195179D6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FD8662-7D88-71D4-973A-FE7EAFDF8EAB}"/>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6" name="Footer Placeholder 5">
            <a:extLst>
              <a:ext uri="{FF2B5EF4-FFF2-40B4-BE49-F238E27FC236}">
                <a16:creationId xmlns:a16="http://schemas.microsoft.com/office/drawing/2014/main" id="{DF3CE79C-3E44-07C3-3C71-2034036621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4C9FF7-F791-28BF-3D60-E11432CB489C}"/>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160722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9CF8-2230-0892-4B5E-A8A09A9B50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606062-3DAC-3600-307F-F7FC1DD89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F4CA8E-B8E3-D2A9-5596-F42D24DDD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F0F-F543-7E5C-FFDE-35E4D793D44E}"/>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6" name="Footer Placeholder 5">
            <a:extLst>
              <a:ext uri="{FF2B5EF4-FFF2-40B4-BE49-F238E27FC236}">
                <a16:creationId xmlns:a16="http://schemas.microsoft.com/office/drawing/2014/main" id="{19264936-D90C-D19E-6B1C-5B2DCD6A10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EBA263-AD89-E8BF-BA65-3BFB210AF8EF}"/>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3340823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4F30-543B-271C-26ED-2B95F36401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41618E-4AB7-B485-9026-D54A353704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3AAAF4-3BD5-D212-F7B4-82C3E6D4392B}"/>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1CB9B4C8-0113-48DC-87A0-10FEDFF9A0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E9ABC-EF46-78C9-C35A-17BDB8A2018F}"/>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3923266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765035-4D95-DFFB-CF0A-7E7E289925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AC4981-5634-DCC7-13E3-D7B4431D01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48AF93-409B-34E0-3330-AEE08856B618}"/>
              </a:ext>
            </a:extLst>
          </p:cNvPr>
          <p:cNvSpPr>
            <a:spLocks noGrp="1"/>
          </p:cNvSpPr>
          <p:nvPr>
            <p:ph type="dt" sz="half" idx="10"/>
          </p:nvPr>
        </p:nvSpPr>
        <p:spPr/>
        <p:txBody>
          <a:body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46424F75-5FAA-31E9-4B7E-866C75C112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DB9D78-A307-E214-5E9C-9F1B2225B59C}"/>
              </a:ext>
            </a:extLst>
          </p:cNvPr>
          <p:cNvSpPr>
            <a:spLocks noGrp="1"/>
          </p:cNvSpPr>
          <p:nvPr>
            <p:ph type="sldNum" sz="quarter" idx="12"/>
          </p:nvPr>
        </p:nvSpPr>
        <p:spPr/>
        <p:txBody>
          <a:bodyPr/>
          <a:lstStyle/>
          <a:p>
            <a:fld id="{8476353C-3C46-45A7-90D3-6403F7148A4E}" type="slidenum">
              <a:rPr lang="en-IN" smtClean="0"/>
              <a:t>‹#›</a:t>
            </a:fld>
            <a:endParaRPr lang="en-IN"/>
          </a:p>
        </p:txBody>
      </p:sp>
    </p:spTree>
    <p:extLst>
      <p:ext uri="{BB962C8B-B14F-4D97-AF65-F5344CB8AC3E}">
        <p14:creationId xmlns:p14="http://schemas.microsoft.com/office/powerpoint/2010/main" val="1965815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4E9042-98D2-20C7-A3D7-4A3893772F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97F37-FB5B-FE65-880C-43B87DE143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4385F-E015-9AE6-3365-69F42D989D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C1ED5-45A0-42E1-ABD9-D55D0F418FF5}" type="datetimeFigureOut">
              <a:rPr lang="en-IN" smtClean="0"/>
              <a:t>06-10-2026</a:t>
            </a:fld>
            <a:endParaRPr lang="en-IN"/>
          </a:p>
        </p:txBody>
      </p:sp>
      <p:sp>
        <p:nvSpPr>
          <p:cNvPr id="5" name="Footer Placeholder 4">
            <a:extLst>
              <a:ext uri="{FF2B5EF4-FFF2-40B4-BE49-F238E27FC236}">
                <a16:creationId xmlns:a16="http://schemas.microsoft.com/office/drawing/2014/main" id="{2C7BDCF2-538C-40EC-13D5-A2A07B8DDC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69FC0F-10CB-4EDC-20A5-D4BAF2ABB8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6353C-3C46-45A7-90D3-6403F7148A4E}" type="slidenum">
              <a:rPr lang="en-IN" smtClean="0"/>
              <a:t>‹#›</a:t>
            </a:fld>
            <a:endParaRPr lang="en-IN"/>
          </a:p>
        </p:txBody>
      </p:sp>
    </p:spTree>
    <p:extLst>
      <p:ext uri="{BB962C8B-B14F-4D97-AF65-F5344CB8AC3E}">
        <p14:creationId xmlns:p14="http://schemas.microsoft.com/office/powerpoint/2010/main" val="3496920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53887-21C5-218D-08DE-EECA84DE2027}"/>
              </a:ext>
            </a:extLst>
          </p:cNvPr>
          <p:cNvSpPr>
            <a:spLocks noGrp="1"/>
          </p:cNvSpPr>
          <p:nvPr>
            <p:ph type="ctrTitle"/>
          </p:nvPr>
        </p:nvSpPr>
        <p:spPr/>
        <p:txBody>
          <a:bodyPr/>
          <a:lstStyle/>
          <a:p>
            <a:r>
              <a:rPr lang="en-IN" dirty="0"/>
              <a:t>Foundations of AI in DevOps</a:t>
            </a:r>
          </a:p>
        </p:txBody>
      </p:sp>
    </p:spTree>
    <p:extLst>
      <p:ext uri="{BB962C8B-B14F-4D97-AF65-F5344CB8AC3E}">
        <p14:creationId xmlns:p14="http://schemas.microsoft.com/office/powerpoint/2010/main" val="3293911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946CBE-F616-2C7A-4776-665ABB053074}"/>
              </a:ext>
            </a:extLst>
          </p:cNvPr>
          <p:cNvSpPr txBox="1"/>
          <p:nvPr/>
        </p:nvSpPr>
        <p:spPr>
          <a:xfrm>
            <a:off x="2492829" y="228599"/>
            <a:ext cx="9612086" cy="707886"/>
          </a:xfrm>
          <a:prstGeom prst="rect">
            <a:avLst/>
          </a:prstGeom>
          <a:noFill/>
        </p:spPr>
        <p:txBody>
          <a:bodyPr wrap="square" rtlCol="0">
            <a:spAutoFit/>
          </a:bodyPr>
          <a:lstStyle/>
          <a:p>
            <a:r>
              <a:rPr lang="en-IN" sz="4000" b="1" dirty="0"/>
              <a:t>What exactly is AI for DevOps?</a:t>
            </a:r>
          </a:p>
        </p:txBody>
      </p:sp>
      <p:sp>
        <p:nvSpPr>
          <p:cNvPr id="5" name="TextBox 4">
            <a:extLst>
              <a:ext uri="{FF2B5EF4-FFF2-40B4-BE49-F238E27FC236}">
                <a16:creationId xmlns:a16="http://schemas.microsoft.com/office/drawing/2014/main" id="{74C04D72-93F3-A955-2FF3-5BD4999E3B36}"/>
              </a:ext>
            </a:extLst>
          </p:cNvPr>
          <p:cNvSpPr txBox="1"/>
          <p:nvPr/>
        </p:nvSpPr>
        <p:spPr>
          <a:xfrm>
            <a:off x="294047" y="1837826"/>
            <a:ext cx="11603906" cy="3385542"/>
          </a:xfrm>
          <a:prstGeom prst="rect">
            <a:avLst/>
          </a:prstGeom>
          <a:noFill/>
        </p:spPr>
        <p:txBody>
          <a:bodyPr wrap="square" rtlCol="0">
            <a:spAutoFit/>
          </a:bodyPr>
          <a:lstStyle/>
          <a:p>
            <a:pPr marL="285750" indent="-285750">
              <a:buFont typeface="Arial" panose="020B0604020202020204" pitchFamily="34" charset="0"/>
              <a:buChar char="•"/>
            </a:pPr>
            <a:r>
              <a:rPr lang="en-IN" sz="2800" dirty="0"/>
              <a:t>It’s an intelligent approach that uses machine learning and data-driven insights to automate and optimize processes across the SDLC from coding and testing to deployment and monitoring.</a:t>
            </a:r>
          </a:p>
          <a:p>
            <a:pPr marL="285750" indent="-285750">
              <a:buFont typeface="Arial" panose="020B0604020202020204" pitchFamily="34" charset="0"/>
              <a:buChar char="•"/>
            </a:pPr>
            <a:endParaRPr lang="en-IN" sz="2800" dirty="0"/>
          </a:p>
          <a:p>
            <a:pPr marL="285750" indent="-285750">
              <a:buFont typeface="Arial" panose="020B0604020202020204" pitchFamily="34" charset="0"/>
              <a:buChar char="•"/>
            </a:pPr>
            <a:r>
              <a:rPr lang="en-IN" sz="2800" dirty="0"/>
              <a:t>Here, DevOps and machine learning work hand-in-hand to predict system failures, automate repetitive operations, enhance testing accuracy, and strengthen security.</a:t>
            </a:r>
          </a:p>
          <a:p>
            <a:endParaRPr lang="en-IN" dirty="0"/>
          </a:p>
        </p:txBody>
      </p:sp>
    </p:spTree>
    <p:extLst>
      <p:ext uri="{BB962C8B-B14F-4D97-AF65-F5344CB8AC3E}">
        <p14:creationId xmlns:p14="http://schemas.microsoft.com/office/powerpoint/2010/main" val="36931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3519-E580-F027-8104-D505A642B36D}"/>
              </a:ext>
            </a:extLst>
          </p:cNvPr>
          <p:cNvSpPr>
            <a:spLocks noGrp="1"/>
          </p:cNvSpPr>
          <p:nvPr>
            <p:ph type="title"/>
          </p:nvPr>
        </p:nvSpPr>
        <p:spPr>
          <a:xfrm>
            <a:off x="838200" y="18255"/>
            <a:ext cx="10515600" cy="1325563"/>
          </a:xfrm>
        </p:spPr>
        <p:txBody>
          <a:bodyPr>
            <a:normAutofit/>
          </a:bodyPr>
          <a:lstStyle/>
          <a:p>
            <a:r>
              <a:rPr lang="en-IN" sz="3200" b="1" dirty="0"/>
              <a:t>Evolution from Traditional DevOps to AI-Augmented DevOps</a:t>
            </a:r>
          </a:p>
        </p:txBody>
      </p:sp>
      <p:sp>
        <p:nvSpPr>
          <p:cNvPr id="4" name="TextBox 3">
            <a:extLst>
              <a:ext uri="{FF2B5EF4-FFF2-40B4-BE49-F238E27FC236}">
                <a16:creationId xmlns:a16="http://schemas.microsoft.com/office/drawing/2014/main" id="{660525DC-E38C-F7C8-3E12-5B9157813788}"/>
              </a:ext>
            </a:extLst>
          </p:cNvPr>
          <p:cNvSpPr txBox="1"/>
          <p:nvPr/>
        </p:nvSpPr>
        <p:spPr>
          <a:xfrm>
            <a:off x="402772" y="1129843"/>
            <a:ext cx="4972964" cy="3046988"/>
          </a:xfrm>
          <a:prstGeom prst="rect">
            <a:avLst/>
          </a:prstGeom>
          <a:noFill/>
        </p:spPr>
        <p:txBody>
          <a:bodyPr wrap="none" rtlCol="0">
            <a:spAutoFit/>
          </a:bodyPr>
          <a:lstStyle/>
          <a:p>
            <a:r>
              <a:rPr lang="en-IN" sz="2400" dirty="0"/>
              <a:t>Traditional DevOps focuses heavily on:</a:t>
            </a:r>
          </a:p>
          <a:p>
            <a:r>
              <a:rPr lang="en-IN" sz="2400" dirty="0"/>
              <a:t>                People </a:t>
            </a:r>
          </a:p>
          <a:p>
            <a:r>
              <a:rPr lang="en-IN" sz="2400" dirty="0"/>
              <a:t>                    ↓ </a:t>
            </a:r>
          </a:p>
          <a:p>
            <a:r>
              <a:rPr lang="en-IN" sz="2400" dirty="0"/>
              <a:t>             Processes </a:t>
            </a:r>
          </a:p>
          <a:p>
            <a:r>
              <a:rPr lang="en-IN" sz="2400" dirty="0"/>
              <a:t>                   ↓ </a:t>
            </a:r>
          </a:p>
          <a:p>
            <a:r>
              <a:rPr lang="en-IN" sz="2400" dirty="0"/>
              <a:t>           Automation </a:t>
            </a:r>
          </a:p>
          <a:p>
            <a:r>
              <a:rPr lang="en-IN" sz="2400" dirty="0"/>
              <a:t>                  ↓ </a:t>
            </a:r>
          </a:p>
          <a:p>
            <a:r>
              <a:rPr lang="en-IN" sz="2400" dirty="0"/>
              <a:t>           Monitoring</a:t>
            </a:r>
          </a:p>
        </p:txBody>
      </p:sp>
      <p:sp>
        <p:nvSpPr>
          <p:cNvPr id="5" name="TextBox 4">
            <a:extLst>
              <a:ext uri="{FF2B5EF4-FFF2-40B4-BE49-F238E27FC236}">
                <a16:creationId xmlns:a16="http://schemas.microsoft.com/office/drawing/2014/main" id="{44A6B439-7DD0-FA4E-D897-B89112B7C7BF}"/>
              </a:ext>
            </a:extLst>
          </p:cNvPr>
          <p:cNvSpPr txBox="1"/>
          <p:nvPr/>
        </p:nvSpPr>
        <p:spPr>
          <a:xfrm>
            <a:off x="6096000" y="1343818"/>
            <a:ext cx="5415329" cy="3046988"/>
          </a:xfrm>
          <a:prstGeom prst="rect">
            <a:avLst/>
          </a:prstGeom>
          <a:noFill/>
        </p:spPr>
        <p:txBody>
          <a:bodyPr wrap="none" rtlCol="0">
            <a:spAutoFit/>
          </a:bodyPr>
          <a:lstStyle/>
          <a:p>
            <a:r>
              <a:rPr lang="en-IN" sz="2400" dirty="0"/>
              <a:t>The automation is primarily deterministic.</a:t>
            </a:r>
          </a:p>
          <a:p>
            <a:r>
              <a:rPr lang="en-IN" sz="2400" dirty="0"/>
              <a:t>For example:</a:t>
            </a:r>
          </a:p>
          <a:p>
            <a:pPr lvl="3"/>
            <a:r>
              <a:rPr lang="en-IN" sz="2400" b="1" dirty="0"/>
              <a:t>if </a:t>
            </a:r>
            <a:r>
              <a:rPr lang="en-IN" sz="2400" b="1" dirty="0" err="1"/>
              <a:t>cpu</a:t>
            </a:r>
            <a:r>
              <a:rPr lang="en-IN" sz="2400" b="1" dirty="0"/>
              <a:t> &gt; 80</a:t>
            </a:r>
          </a:p>
          <a:p>
            <a:pPr lvl="3"/>
            <a:r>
              <a:rPr lang="en-IN" sz="2400" b="1" dirty="0"/>
              <a:t>then</a:t>
            </a:r>
          </a:p>
          <a:p>
            <a:pPr lvl="3"/>
            <a:r>
              <a:rPr lang="en-IN" sz="2400" b="1" dirty="0"/>
              <a:t>    </a:t>
            </a:r>
            <a:r>
              <a:rPr lang="en-IN" sz="2400" b="1" dirty="0" err="1"/>
              <a:t>scale_out</a:t>
            </a:r>
            <a:endParaRPr lang="en-IN" sz="2400" b="1" dirty="0"/>
          </a:p>
          <a:p>
            <a:pPr lvl="3"/>
            <a:r>
              <a:rPr lang="en-IN" sz="2400" b="1" dirty="0"/>
              <a:t>fi</a:t>
            </a:r>
          </a:p>
          <a:p>
            <a:r>
              <a:rPr lang="en-IN" sz="2400" dirty="0"/>
              <a:t>The rule is explicitly defined.</a:t>
            </a:r>
          </a:p>
          <a:p>
            <a:endParaRPr lang="en-IN" sz="2400" dirty="0"/>
          </a:p>
        </p:txBody>
      </p:sp>
      <p:sp>
        <p:nvSpPr>
          <p:cNvPr id="6" name="TextBox 5">
            <a:extLst>
              <a:ext uri="{FF2B5EF4-FFF2-40B4-BE49-F238E27FC236}">
                <a16:creationId xmlns:a16="http://schemas.microsoft.com/office/drawing/2014/main" id="{A6D8DD04-A479-EEB1-09E4-BF66032A6996}"/>
              </a:ext>
            </a:extLst>
          </p:cNvPr>
          <p:cNvSpPr txBox="1"/>
          <p:nvPr/>
        </p:nvSpPr>
        <p:spPr>
          <a:xfrm>
            <a:off x="838200" y="4688254"/>
            <a:ext cx="10673129" cy="923330"/>
          </a:xfrm>
          <a:prstGeom prst="rect">
            <a:avLst/>
          </a:prstGeom>
          <a:noFill/>
        </p:spPr>
        <p:txBody>
          <a:bodyPr wrap="square" rtlCol="0">
            <a:spAutoFit/>
          </a:bodyPr>
          <a:lstStyle/>
          <a:p>
            <a:r>
              <a:rPr lang="en-IN" dirty="0"/>
              <a:t>Traditional DevOps brought speed, collaboration, and continuous delivery but wasn’t built for today’s system scale, complexity, or data velocity. As cloud environments expand and release cycles shrink, teams are drowning in alerts, metrics, and manual checks that make “continuous” feel more like “chaotic.”</a:t>
            </a:r>
          </a:p>
        </p:txBody>
      </p:sp>
    </p:spTree>
    <p:extLst>
      <p:ext uri="{BB962C8B-B14F-4D97-AF65-F5344CB8AC3E}">
        <p14:creationId xmlns:p14="http://schemas.microsoft.com/office/powerpoint/2010/main" val="3212800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F7CCD8-B6CC-7993-F852-FFF52BDA695A}"/>
              </a:ext>
            </a:extLst>
          </p:cNvPr>
          <p:cNvSpPr txBox="1"/>
          <p:nvPr/>
        </p:nvSpPr>
        <p:spPr>
          <a:xfrm>
            <a:off x="718458" y="283028"/>
            <a:ext cx="10773398" cy="461665"/>
          </a:xfrm>
          <a:prstGeom prst="rect">
            <a:avLst/>
          </a:prstGeom>
          <a:noFill/>
        </p:spPr>
        <p:txBody>
          <a:bodyPr wrap="none" rtlCol="0">
            <a:spAutoFit/>
          </a:bodyPr>
          <a:lstStyle/>
          <a:p>
            <a:r>
              <a:rPr lang="en-IN" sz="2400" b="1" dirty="0"/>
              <a:t>AI-Augmented DevOps: AI introduces intelligence into the existing DevOps process.</a:t>
            </a:r>
          </a:p>
        </p:txBody>
      </p:sp>
      <p:sp>
        <p:nvSpPr>
          <p:cNvPr id="5" name="TextBox 4">
            <a:extLst>
              <a:ext uri="{FF2B5EF4-FFF2-40B4-BE49-F238E27FC236}">
                <a16:creationId xmlns:a16="http://schemas.microsoft.com/office/drawing/2014/main" id="{62926F06-D9D6-5C33-B399-4BCFECE83CAA}"/>
              </a:ext>
            </a:extLst>
          </p:cNvPr>
          <p:cNvSpPr txBox="1"/>
          <p:nvPr/>
        </p:nvSpPr>
        <p:spPr>
          <a:xfrm>
            <a:off x="1774372" y="1942743"/>
            <a:ext cx="2144485" cy="4801314"/>
          </a:xfrm>
          <a:prstGeom prst="rect">
            <a:avLst/>
          </a:prstGeom>
          <a:noFill/>
        </p:spPr>
        <p:txBody>
          <a:bodyPr wrap="square" rtlCol="0">
            <a:spAutoFit/>
          </a:bodyPr>
          <a:lstStyle/>
          <a:p>
            <a:r>
              <a:rPr lang="en-IN" dirty="0"/>
              <a:t>Developer </a:t>
            </a:r>
          </a:p>
          <a:p>
            <a:r>
              <a:rPr lang="en-IN" dirty="0"/>
              <a:t>↓ </a:t>
            </a:r>
          </a:p>
          <a:p>
            <a:r>
              <a:rPr lang="en-IN" dirty="0"/>
              <a:t>AI Assistant </a:t>
            </a:r>
          </a:p>
          <a:p>
            <a:r>
              <a:rPr lang="en-IN" dirty="0"/>
              <a:t>↓</a:t>
            </a:r>
          </a:p>
          <a:p>
            <a:r>
              <a:rPr lang="en-IN" dirty="0"/>
              <a:t> Code </a:t>
            </a:r>
          </a:p>
          <a:p>
            <a:r>
              <a:rPr lang="en-IN" dirty="0"/>
              <a:t>↓ </a:t>
            </a:r>
          </a:p>
          <a:p>
            <a:r>
              <a:rPr lang="en-IN" dirty="0"/>
              <a:t>CI/CD </a:t>
            </a:r>
          </a:p>
          <a:p>
            <a:r>
              <a:rPr lang="en-IN" dirty="0"/>
              <a:t>↓ </a:t>
            </a:r>
          </a:p>
          <a:p>
            <a:r>
              <a:rPr lang="en-IN" dirty="0"/>
              <a:t>AI Analysis </a:t>
            </a:r>
          </a:p>
          <a:p>
            <a:r>
              <a:rPr lang="en-IN" dirty="0"/>
              <a:t>↓ </a:t>
            </a:r>
          </a:p>
          <a:p>
            <a:r>
              <a:rPr lang="en-IN" dirty="0"/>
              <a:t>Deployment </a:t>
            </a:r>
          </a:p>
          <a:p>
            <a:r>
              <a:rPr lang="en-IN" dirty="0"/>
              <a:t>↓ </a:t>
            </a:r>
          </a:p>
          <a:p>
            <a:r>
              <a:rPr lang="en-IN" dirty="0"/>
              <a:t>Telemetry </a:t>
            </a:r>
          </a:p>
          <a:p>
            <a:r>
              <a:rPr lang="en-IN" dirty="0"/>
              <a:t>↓ </a:t>
            </a:r>
          </a:p>
          <a:p>
            <a:r>
              <a:rPr lang="en-IN" dirty="0"/>
              <a:t>AI Detection </a:t>
            </a:r>
          </a:p>
          <a:p>
            <a:r>
              <a:rPr lang="en-IN" dirty="0"/>
              <a:t>↓ </a:t>
            </a:r>
          </a:p>
          <a:p>
            <a:r>
              <a:rPr lang="en-IN" dirty="0"/>
              <a:t>Incident Response</a:t>
            </a:r>
          </a:p>
        </p:txBody>
      </p:sp>
      <p:sp>
        <p:nvSpPr>
          <p:cNvPr id="6" name="TextBox 5">
            <a:extLst>
              <a:ext uri="{FF2B5EF4-FFF2-40B4-BE49-F238E27FC236}">
                <a16:creationId xmlns:a16="http://schemas.microsoft.com/office/drawing/2014/main" id="{CD0DE47A-CFA6-BCBC-2EA6-4801DDEC4317}"/>
              </a:ext>
            </a:extLst>
          </p:cNvPr>
          <p:cNvSpPr txBox="1"/>
          <p:nvPr/>
        </p:nvSpPr>
        <p:spPr>
          <a:xfrm>
            <a:off x="6389914" y="1942743"/>
            <a:ext cx="2394857" cy="5078313"/>
          </a:xfrm>
          <a:prstGeom prst="rect">
            <a:avLst/>
          </a:prstGeom>
          <a:noFill/>
        </p:spPr>
        <p:txBody>
          <a:bodyPr wrap="square" rtlCol="0">
            <a:spAutoFit/>
          </a:bodyPr>
          <a:lstStyle/>
          <a:p>
            <a:r>
              <a:rPr lang="en-IN" dirty="0"/>
              <a:t>AI can </a:t>
            </a:r>
            <a:r>
              <a:rPr lang="en-IN" dirty="0" err="1"/>
              <a:t>analyze</a:t>
            </a:r>
            <a:r>
              <a:rPr lang="en-IN" dirty="0"/>
              <a:t>:</a:t>
            </a:r>
          </a:p>
          <a:p>
            <a:endParaRPr lang="en-IN" dirty="0"/>
          </a:p>
          <a:p>
            <a:pPr marL="285750" lvl="0" indent="-285750">
              <a:buFont typeface="Arial" panose="020B0604020202020204" pitchFamily="34" charset="0"/>
              <a:buChar char="•"/>
            </a:pPr>
            <a:r>
              <a:rPr lang="en-IN" dirty="0"/>
              <a:t>Code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Pipeline history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Infrastructure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Logs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Metrics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Traces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Security findings </a:t>
            </a:r>
          </a:p>
          <a:p>
            <a:pPr marL="285750" lvl="0" indent="-285750">
              <a:buFont typeface="Arial" panose="020B0604020202020204" pitchFamily="34" charset="0"/>
              <a:buChar char="•"/>
            </a:pPr>
            <a:endParaRPr lang="en-IN" dirty="0"/>
          </a:p>
          <a:p>
            <a:pPr marL="285750" lvl="0" indent="-285750">
              <a:buFont typeface="Arial" panose="020B0604020202020204" pitchFamily="34" charset="0"/>
              <a:buChar char="•"/>
            </a:pPr>
            <a:r>
              <a:rPr lang="en-IN" dirty="0"/>
              <a:t>Incident history</a:t>
            </a:r>
          </a:p>
          <a:p>
            <a:endParaRPr lang="en-IN" dirty="0"/>
          </a:p>
        </p:txBody>
      </p:sp>
      <p:sp>
        <p:nvSpPr>
          <p:cNvPr id="7" name="TextBox 6">
            <a:extLst>
              <a:ext uri="{FF2B5EF4-FFF2-40B4-BE49-F238E27FC236}">
                <a16:creationId xmlns:a16="http://schemas.microsoft.com/office/drawing/2014/main" id="{6003B1C2-B16E-536A-60FF-21B3EA69A3A2}"/>
              </a:ext>
            </a:extLst>
          </p:cNvPr>
          <p:cNvSpPr txBox="1"/>
          <p:nvPr/>
        </p:nvSpPr>
        <p:spPr>
          <a:xfrm>
            <a:off x="489856" y="1019413"/>
            <a:ext cx="11702144" cy="923330"/>
          </a:xfrm>
          <a:prstGeom prst="rect">
            <a:avLst/>
          </a:prstGeom>
          <a:noFill/>
        </p:spPr>
        <p:txBody>
          <a:bodyPr wrap="square" rtlCol="0">
            <a:spAutoFit/>
          </a:bodyPr>
          <a:lstStyle/>
          <a:p>
            <a:r>
              <a:rPr lang="en-IN" dirty="0"/>
              <a:t>AI for DevOps plays a transformative role, enabling intelligent automation, code assistance, predictive analytics, enhanced monitoring and observability, optimized resource management, improved security, and smarter decision-making and collaboration.</a:t>
            </a:r>
          </a:p>
        </p:txBody>
      </p:sp>
    </p:spTree>
    <p:extLst>
      <p:ext uri="{BB962C8B-B14F-4D97-AF65-F5344CB8AC3E}">
        <p14:creationId xmlns:p14="http://schemas.microsoft.com/office/powerpoint/2010/main" val="2243539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3D9531-B3BA-8669-51E8-CDC413F7B110}"/>
              </a:ext>
            </a:extLst>
          </p:cNvPr>
          <p:cNvSpPr txBox="1"/>
          <p:nvPr/>
        </p:nvSpPr>
        <p:spPr>
          <a:xfrm>
            <a:off x="3943776" y="217714"/>
            <a:ext cx="4423262" cy="523220"/>
          </a:xfrm>
          <a:prstGeom prst="rect">
            <a:avLst/>
          </a:prstGeom>
          <a:noFill/>
        </p:spPr>
        <p:txBody>
          <a:bodyPr wrap="none" rtlCol="0">
            <a:spAutoFit/>
          </a:bodyPr>
          <a:lstStyle/>
          <a:p>
            <a:r>
              <a:rPr lang="en-IN" sz="2800" b="1" dirty="0"/>
              <a:t>Traditional vs AI-Augmented</a:t>
            </a:r>
          </a:p>
        </p:txBody>
      </p:sp>
      <p:graphicFrame>
        <p:nvGraphicFramePr>
          <p:cNvPr id="6" name="Table 5">
            <a:extLst>
              <a:ext uri="{FF2B5EF4-FFF2-40B4-BE49-F238E27FC236}">
                <a16:creationId xmlns:a16="http://schemas.microsoft.com/office/drawing/2014/main" id="{B3EA0068-86A4-5530-8323-B9781737A462}"/>
              </a:ext>
            </a:extLst>
          </p:cNvPr>
          <p:cNvGraphicFramePr>
            <a:graphicFrameLocks noGrp="1"/>
          </p:cNvGraphicFramePr>
          <p:nvPr>
            <p:extLst>
              <p:ext uri="{D42A27DB-BD31-4B8C-83A1-F6EECF244321}">
                <p14:modId xmlns:p14="http://schemas.microsoft.com/office/powerpoint/2010/main" val="1776870559"/>
              </p:ext>
            </p:extLst>
          </p:nvPr>
        </p:nvGraphicFramePr>
        <p:xfrm>
          <a:off x="838200" y="1186543"/>
          <a:ext cx="10515600" cy="4201888"/>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314627380"/>
                    </a:ext>
                  </a:extLst>
                </a:gridCol>
                <a:gridCol w="5257800">
                  <a:extLst>
                    <a:ext uri="{9D8B030D-6E8A-4147-A177-3AD203B41FA5}">
                      <a16:colId xmlns:a16="http://schemas.microsoft.com/office/drawing/2014/main" val="3900386390"/>
                    </a:ext>
                  </a:extLst>
                </a:gridCol>
              </a:tblGrid>
              <a:tr h="525236">
                <a:tc>
                  <a:txBody>
                    <a:bodyPr/>
                    <a:lstStyle/>
                    <a:p>
                      <a:pPr algn="ctr">
                        <a:buNone/>
                      </a:pPr>
                      <a:r>
                        <a:rPr lang="en-IN" b="1" dirty="0"/>
                        <a:t>Traditional DevOps</a:t>
                      </a:r>
                    </a:p>
                  </a:txBody>
                  <a:tcPr anchor="ctr"/>
                </a:tc>
                <a:tc>
                  <a:txBody>
                    <a:bodyPr/>
                    <a:lstStyle/>
                    <a:p>
                      <a:pPr algn="ctr">
                        <a:buNone/>
                      </a:pPr>
                      <a:r>
                        <a:rPr lang="en-IN" b="1" dirty="0"/>
                        <a:t>AI-Augmented DevOps</a:t>
                      </a:r>
                    </a:p>
                  </a:txBody>
                  <a:tcPr anchor="ctr"/>
                </a:tc>
                <a:extLst>
                  <a:ext uri="{0D108BD9-81ED-4DB2-BD59-A6C34878D82A}">
                    <a16:rowId xmlns:a16="http://schemas.microsoft.com/office/drawing/2014/main" val="3172583464"/>
                  </a:ext>
                </a:extLst>
              </a:tr>
              <a:tr h="525236">
                <a:tc>
                  <a:txBody>
                    <a:bodyPr/>
                    <a:lstStyle/>
                    <a:p>
                      <a:pPr>
                        <a:buNone/>
                      </a:pPr>
                      <a:r>
                        <a:rPr lang="en-IN"/>
                        <a:t>Static rules</a:t>
                      </a:r>
                    </a:p>
                  </a:txBody>
                  <a:tcPr anchor="ctr"/>
                </a:tc>
                <a:tc>
                  <a:txBody>
                    <a:bodyPr/>
                    <a:lstStyle/>
                    <a:p>
                      <a:pPr>
                        <a:buNone/>
                      </a:pPr>
                      <a:r>
                        <a:rPr lang="en-IN"/>
                        <a:t>Dynamic pattern detection</a:t>
                      </a:r>
                    </a:p>
                  </a:txBody>
                  <a:tcPr anchor="ctr"/>
                </a:tc>
                <a:extLst>
                  <a:ext uri="{0D108BD9-81ED-4DB2-BD59-A6C34878D82A}">
                    <a16:rowId xmlns:a16="http://schemas.microsoft.com/office/drawing/2014/main" val="2944301735"/>
                  </a:ext>
                </a:extLst>
              </a:tr>
              <a:tr h="525236">
                <a:tc>
                  <a:txBody>
                    <a:bodyPr/>
                    <a:lstStyle/>
                    <a:p>
                      <a:pPr>
                        <a:buNone/>
                      </a:pPr>
                      <a:r>
                        <a:rPr lang="en-IN"/>
                        <a:t>Manual troubleshooting</a:t>
                      </a:r>
                    </a:p>
                  </a:txBody>
                  <a:tcPr anchor="ctr"/>
                </a:tc>
                <a:tc>
                  <a:txBody>
                    <a:bodyPr/>
                    <a:lstStyle/>
                    <a:p>
                      <a:pPr>
                        <a:buNone/>
                      </a:pPr>
                      <a:r>
                        <a:rPr lang="en-IN"/>
                        <a:t>AI-assisted troubleshooting</a:t>
                      </a:r>
                    </a:p>
                  </a:txBody>
                  <a:tcPr anchor="ctr"/>
                </a:tc>
                <a:extLst>
                  <a:ext uri="{0D108BD9-81ED-4DB2-BD59-A6C34878D82A}">
                    <a16:rowId xmlns:a16="http://schemas.microsoft.com/office/drawing/2014/main" val="1889382829"/>
                  </a:ext>
                </a:extLst>
              </a:tr>
              <a:tr h="525236">
                <a:tc>
                  <a:txBody>
                    <a:bodyPr/>
                    <a:lstStyle/>
                    <a:p>
                      <a:pPr>
                        <a:buNone/>
                      </a:pPr>
                      <a:r>
                        <a:rPr lang="en-IN"/>
                        <a:t>Static thresholds</a:t>
                      </a:r>
                    </a:p>
                  </a:txBody>
                  <a:tcPr anchor="ctr"/>
                </a:tc>
                <a:tc>
                  <a:txBody>
                    <a:bodyPr/>
                    <a:lstStyle/>
                    <a:p>
                      <a:pPr>
                        <a:buNone/>
                      </a:pPr>
                      <a:r>
                        <a:rPr lang="en-IN"/>
                        <a:t>Dynamic baselines</a:t>
                      </a:r>
                    </a:p>
                  </a:txBody>
                  <a:tcPr anchor="ctr"/>
                </a:tc>
                <a:extLst>
                  <a:ext uri="{0D108BD9-81ED-4DB2-BD59-A6C34878D82A}">
                    <a16:rowId xmlns:a16="http://schemas.microsoft.com/office/drawing/2014/main" val="3927451897"/>
                  </a:ext>
                </a:extLst>
              </a:tr>
              <a:tr h="525236">
                <a:tc>
                  <a:txBody>
                    <a:bodyPr/>
                    <a:lstStyle/>
                    <a:p>
                      <a:pPr>
                        <a:buNone/>
                      </a:pPr>
                      <a:r>
                        <a:rPr lang="en-IN"/>
                        <a:t>Manual RCA</a:t>
                      </a:r>
                    </a:p>
                  </a:txBody>
                  <a:tcPr anchor="ctr"/>
                </a:tc>
                <a:tc>
                  <a:txBody>
                    <a:bodyPr/>
                    <a:lstStyle/>
                    <a:p>
                      <a:pPr>
                        <a:buNone/>
                      </a:pPr>
                      <a:r>
                        <a:rPr lang="en-IN"/>
                        <a:t>AI-assisted RCA</a:t>
                      </a:r>
                    </a:p>
                  </a:txBody>
                  <a:tcPr anchor="ctr"/>
                </a:tc>
                <a:extLst>
                  <a:ext uri="{0D108BD9-81ED-4DB2-BD59-A6C34878D82A}">
                    <a16:rowId xmlns:a16="http://schemas.microsoft.com/office/drawing/2014/main" val="1694464951"/>
                  </a:ext>
                </a:extLst>
              </a:tr>
              <a:tr h="525236">
                <a:tc>
                  <a:txBody>
                    <a:bodyPr/>
                    <a:lstStyle/>
                    <a:p>
                      <a:pPr>
                        <a:buNone/>
                      </a:pPr>
                      <a:r>
                        <a:rPr lang="en-IN"/>
                        <a:t>Fixed scripts</a:t>
                      </a:r>
                    </a:p>
                  </a:txBody>
                  <a:tcPr anchor="ctr"/>
                </a:tc>
                <a:tc>
                  <a:txBody>
                    <a:bodyPr/>
                    <a:lstStyle/>
                    <a:p>
                      <a:pPr>
                        <a:buNone/>
                      </a:pPr>
                      <a:r>
                        <a:rPr lang="en-IN"/>
                        <a:t>Context-aware automation</a:t>
                      </a:r>
                    </a:p>
                  </a:txBody>
                  <a:tcPr anchor="ctr"/>
                </a:tc>
                <a:extLst>
                  <a:ext uri="{0D108BD9-81ED-4DB2-BD59-A6C34878D82A}">
                    <a16:rowId xmlns:a16="http://schemas.microsoft.com/office/drawing/2014/main" val="1741556212"/>
                  </a:ext>
                </a:extLst>
              </a:tr>
              <a:tr h="525236">
                <a:tc>
                  <a:txBody>
                    <a:bodyPr/>
                    <a:lstStyle/>
                    <a:p>
                      <a:pPr>
                        <a:buNone/>
                      </a:pPr>
                      <a:r>
                        <a:rPr lang="en-IN"/>
                        <a:t>Manual documentation</a:t>
                      </a:r>
                    </a:p>
                  </a:txBody>
                  <a:tcPr anchor="ctr"/>
                </a:tc>
                <a:tc>
                  <a:txBody>
                    <a:bodyPr/>
                    <a:lstStyle/>
                    <a:p>
                      <a:pPr>
                        <a:buNone/>
                      </a:pPr>
                      <a:r>
                        <a:rPr lang="en-IN"/>
                        <a:t>AI-generated documentation</a:t>
                      </a:r>
                    </a:p>
                  </a:txBody>
                  <a:tcPr anchor="ctr"/>
                </a:tc>
                <a:extLst>
                  <a:ext uri="{0D108BD9-81ED-4DB2-BD59-A6C34878D82A}">
                    <a16:rowId xmlns:a16="http://schemas.microsoft.com/office/drawing/2014/main" val="2296821246"/>
                  </a:ext>
                </a:extLst>
              </a:tr>
              <a:tr h="525236">
                <a:tc>
                  <a:txBody>
                    <a:bodyPr/>
                    <a:lstStyle/>
                    <a:p>
                      <a:pPr>
                        <a:buNone/>
                      </a:pPr>
                      <a:r>
                        <a:rPr lang="en-IN"/>
                        <a:t>Reactive operations</a:t>
                      </a:r>
                    </a:p>
                  </a:txBody>
                  <a:tcPr anchor="ctr"/>
                </a:tc>
                <a:tc>
                  <a:txBody>
                    <a:bodyPr/>
                    <a:lstStyle/>
                    <a:p>
                      <a:pPr>
                        <a:buNone/>
                      </a:pPr>
                      <a:r>
                        <a:rPr lang="en-IN" dirty="0"/>
                        <a:t>Predictive operations</a:t>
                      </a:r>
                    </a:p>
                  </a:txBody>
                  <a:tcPr anchor="ctr"/>
                </a:tc>
                <a:extLst>
                  <a:ext uri="{0D108BD9-81ED-4DB2-BD59-A6C34878D82A}">
                    <a16:rowId xmlns:a16="http://schemas.microsoft.com/office/drawing/2014/main" val="1104931436"/>
                  </a:ext>
                </a:extLst>
              </a:tr>
            </a:tbl>
          </a:graphicData>
        </a:graphic>
      </p:graphicFrame>
    </p:spTree>
    <p:extLst>
      <p:ext uri="{BB962C8B-B14F-4D97-AF65-F5344CB8AC3E}">
        <p14:creationId xmlns:p14="http://schemas.microsoft.com/office/powerpoint/2010/main" val="3642772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0F5BC9-48C5-5E33-E153-7B60F402ACEE}"/>
              </a:ext>
            </a:extLst>
          </p:cNvPr>
          <p:cNvSpPr txBox="1"/>
          <p:nvPr/>
        </p:nvSpPr>
        <p:spPr>
          <a:xfrm>
            <a:off x="3978798" y="221380"/>
            <a:ext cx="7293429" cy="523220"/>
          </a:xfrm>
          <a:prstGeom prst="rect">
            <a:avLst/>
          </a:prstGeom>
          <a:noFill/>
        </p:spPr>
        <p:txBody>
          <a:bodyPr wrap="square" rtlCol="0">
            <a:spAutoFit/>
          </a:bodyPr>
          <a:lstStyle/>
          <a:p>
            <a:r>
              <a:rPr lang="en-IN" sz="2800" b="1" dirty="0"/>
              <a:t>AI in the DevOps Lifecycle</a:t>
            </a:r>
          </a:p>
        </p:txBody>
      </p:sp>
      <p:sp>
        <p:nvSpPr>
          <p:cNvPr id="5" name="TextBox 4">
            <a:extLst>
              <a:ext uri="{FF2B5EF4-FFF2-40B4-BE49-F238E27FC236}">
                <a16:creationId xmlns:a16="http://schemas.microsoft.com/office/drawing/2014/main" id="{171D9EBB-9D45-DEBE-EBB6-9B2FFA5CDAE9}"/>
              </a:ext>
            </a:extLst>
          </p:cNvPr>
          <p:cNvSpPr txBox="1"/>
          <p:nvPr/>
        </p:nvSpPr>
        <p:spPr>
          <a:xfrm>
            <a:off x="772886" y="1230086"/>
            <a:ext cx="2668359" cy="2308324"/>
          </a:xfrm>
          <a:prstGeom prst="rect">
            <a:avLst/>
          </a:prstGeom>
          <a:noFill/>
        </p:spPr>
        <p:txBody>
          <a:bodyPr wrap="none" rtlCol="0">
            <a:spAutoFit/>
          </a:bodyPr>
          <a:lstStyle/>
          <a:p>
            <a:r>
              <a:rPr lang="en-IN" b="1" dirty="0"/>
              <a:t>Plan</a:t>
            </a:r>
          </a:p>
          <a:p>
            <a:r>
              <a:rPr lang="en-IN" dirty="0"/>
              <a:t>AI can:</a:t>
            </a:r>
          </a:p>
          <a:p>
            <a:pPr marL="285750" lvl="0" indent="-285750">
              <a:buFont typeface="Arial" panose="020B0604020202020204" pitchFamily="34" charset="0"/>
              <a:buChar char="•"/>
            </a:pPr>
            <a:r>
              <a:rPr lang="en-IN" dirty="0" err="1"/>
              <a:t>Analyze</a:t>
            </a:r>
            <a:r>
              <a:rPr lang="en-IN" dirty="0"/>
              <a:t> requirements. </a:t>
            </a:r>
          </a:p>
          <a:p>
            <a:pPr marL="285750" lvl="0" indent="-285750">
              <a:buFont typeface="Arial" panose="020B0604020202020204" pitchFamily="34" charset="0"/>
              <a:buChar char="•"/>
            </a:pPr>
            <a:r>
              <a:rPr lang="en-IN" dirty="0"/>
              <a:t>Generate user stories. </a:t>
            </a:r>
          </a:p>
          <a:p>
            <a:pPr marL="285750" lvl="0" indent="-285750">
              <a:buFont typeface="Arial" panose="020B0604020202020204" pitchFamily="34" charset="0"/>
              <a:buChar char="•"/>
            </a:pPr>
            <a:r>
              <a:rPr lang="en-IN" dirty="0"/>
              <a:t>Identify dependencies. </a:t>
            </a:r>
          </a:p>
          <a:p>
            <a:pPr marL="285750" lvl="0" indent="-285750">
              <a:buFont typeface="Arial" panose="020B0604020202020204" pitchFamily="34" charset="0"/>
              <a:buChar char="•"/>
            </a:pPr>
            <a:r>
              <a:rPr lang="en-IN" dirty="0"/>
              <a:t>Estimate complexity. </a:t>
            </a:r>
          </a:p>
          <a:p>
            <a:pPr marL="285750" lvl="0" indent="-285750">
              <a:buFont typeface="Arial" panose="020B0604020202020204" pitchFamily="34" charset="0"/>
              <a:buChar char="•"/>
            </a:pPr>
            <a:r>
              <a:rPr lang="en-IN" dirty="0"/>
              <a:t>Identify potential risks.</a:t>
            </a:r>
          </a:p>
          <a:p>
            <a:endParaRPr lang="en-IN" dirty="0"/>
          </a:p>
        </p:txBody>
      </p:sp>
      <p:sp>
        <p:nvSpPr>
          <p:cNvPr id="6" name="TextBox 5">
            <a:extLst>
              <a:ext uri="{FF2B5EF4-FFF2-40B4-BE49-F238E27FC236}">
                <a16:creationId xmlns:a16="http://schemas.microsoft.com/office/drawing/2014/main" id="{41821942-60DC-088C-2AE0-FF9CEB2F3636}"/>
              </a:ext>
            </a:extLst>
          </p:cNvPr>
          <p:cNvSpPr txBox="1"/>
          <p:nvPr/>
        </p:nvSpPr>
        <p:spPr>
          <a:xfrm>
            <a:off x="4660526" y="1120676"/>
            <a:ext cx="2621936" cy="2308324"/>
          </a:xfrm>
          <a:prstGeom prst="rect">
            <a:avLst/>
          </a:prstGeom>
          <a:noFill/>
        </p:spPr>
        <p:txBody>
          <a:bodyPr wrap="none" rtlCol="0">
            <a:spAutoFit/>
          </a:bodyPr>
          <a:lstStyle/>
          <a:p>
            <a:r>
              <a:rPr lang="en-IN" b="1" dirty="0"/>
              <a:t>Code</a:t>
            </a:r>
          </a:p>
          <a:p>
            <a:r>
              <a:rPr lang="en-IN" dirty="0"/>
              <a:t>AI can:</a:t>
            </a:r>
          </a:p>
          <a:p>
            <a:pPr marL="285750" lvl="0" indent="-285750">
              <a:buFont typeface="Arial" panose="020B0604020202020204" pitchFamily="34" charset="0"/>
              <a:buChar char="•"/>
            </a:pPr>
            <a:r>
              <a:rPr lang="en-IN" dirty="0"/>
              <a:t>Generate code. </a:t>
            </a:r>
          </a:p>
          <a:p>
            <a:pPr marL="285750" lvl="0" indent="-285750">
              <a:buFont typeface="Arial" panose="020B0604020202020204" pitchFamily="34" charset="0"/>
              <a:buChar char="•"/>
            </a:pPr>
            <a:r>
              <a:rPr lang="en-IN" dirty="0"/>
              <a:t>Explain code. </a:t>
            </a:r>
          </a:p>
          <a:p>
            <a:pPr marL="285750" lvl="0" indent="-285750">
              <a:buFont typeface="Arial" panose="020B0604020202020204" pitchFamily="34" charset="0"/>
              <a:buChar char="•"/>
            </a:pPr>
            <a:r>
              <a:rPr lang="en-IN" dirty="0"/>
              <a:t>Refactor code. </a:t>
            </a:r>
          </a:p>
          <a:p>
            <a:pPr marL="285750" lvl="0" indent="-285750">
              <a:buFont typeface="Arial" panose="020B0604020202020204" pitchFamily="34" charset="0"/>
              <a:buChar char="•"/>
            </a:pPr>
            <a:r>
              <a:rPr lang="en-IN" dirty="0"/>
              <a:t>Generate tests. </a:t>
            </a:r>
          </a:p>
          <a:p>
            <a:pPr marL="285750" lvl="0" indent="-285750">
              <a:buFont typeface="Arial" panose="020B0604020202020204" pitchFamily="34" charset="0"/>
              <a:buChar char="•"/>
            </a:pPr>
            <a:r>
              <a:rPr lang="en-IN" dirty="0"/>
              <a:t>Identify vulnerabilities.</a:t>
            </a:r>
          </a:p>
          <a:p>
            <a:endParaRPr lang="en-IN" dirty="0"/>
          </a:p>
        </p:txBody>
      </p:sp>
      <p:sp>
        <p:nvSpPr>
          <p:cNvPr id="7" name="TextBox 6">
            <a:extLst>
              <a:ext uri="{FF2B5EF4-FFF2-40B4-BE49-F238E27FC236}">
                <a16:creationId xmlns:a16="http://schemas.microsoft.com/office/drawing/2014/main" id="{0127B165-5B6D-2585-99E5-3C41E4D61503}"/>
              </a:ext>
            </a:extLst>
          </p:cNvPr>
          <p:cNvSpPr txBox="1"/>
          <p:nvPr/>
        </p:nvSpPr>
        <p:spPr>
          <a:xfrm>
            <a:off x="8326296" y="1120676"/>
            <a:ext cx="3511987" cy="2031325"/>
          </a:xfrm>
          <a:prstGeom prst="rect">
            <a:avLst/>
          </a:prstGeom>
          <a:noFill/>
        </p:spPr>
        <p:txBody>
          <a:bodyPr wrap="none" rtlCol="0">
            <a:spAutoFit/>
          </a:bodyPr>
          <a:lstStyle/>
          <a:p>
            <a:r>
              <a:rPr lang="en-IN" b="1" dirty="0"/>
              <a:t>Build</a:t>
            </a:r>
          </a:p>
          <a:p>
            <a:r>
              <a:rPr lang="en-IN" dirty="0"/>
              <a:t>AI can:</a:t>
            </a:r>
          </a:p>
          <a:p>
            <a:pPr marL="285750" lvl="0" indent="-285750">
              <a:buFont typeface="Arial" panose="020B0604020202020204" pitchFamily="34" charset="0"/>
              <a:buChar char="•"/>
            </a:pPr>
            <a:r>
              <a:rPr lang="en-IN" dirty="0"/>
              <a:t>Predict build failures. </a:t>
            </a:r>
          </a:p>
          <a:p>
            <a:pPr marL="285750" lvl="0" indent="-285750">
              <a:buFont typeface="Arial" panose="020B0604020202020204" pitchFamily="34" charset="0"/>
              <a:buChar char="•"/>
            </a:pPr>
            <a:r>
              <a:rPr lang="en-IN" dirty="0" err="1"/>
              <a:t>Analyze</a:t>
            </a:r>
            <a:r>
              <a:rPr lang="en-IN" dirty="0"/>
              <a:t> build duration. </a:t>
            </a:r>
          </a:p>
          <a:p>
            <a:pPr marL="285750" lvl="0" indent="-285750">
              <a:buFont typeface="Arial" panose="020B0604020202020204" pitchFamily="34" charset="0"/>
              <a:buChar char="•"/>
            </a:pPr>
            <a:r>
              <a:rPr lang="en-IN" dirty="0"/>
              <a:t>Optimize pipeline stages. </a:t>
            </a:r>
          </a:p>
          <a:p>
            <a:pPr marL="285750" lvl="0" indent="-285750">
              <a:buFont typeface="Arial" panose="020B0604020202020204" pitchFamily="34" charset="0"/>
              <a:buChar char="•"/>
            </a:pPr>
            <a:r>
              <a:rPr lang="en-IN" dirty="0"/>
              <a:t>Detect inefficient dependencies.</a:t>
            </a:r>
          </a:p>
          <a:p>
            <a:endParaRPr lang="en-IN" dirty="0"/>
          </a:p>
        </p:txBody>
      </p:sp>
      <p:sp>
        <p:nvSpPr>
          <p:cNvPr id="8" name="TextBox 7">
            <a:extLst>
              <a:ext uri="{FF2B5EF4-FFF2-40B4-BE49-F238E27FC236}">
                <a16:creationId xmlns:a16="http://schemas.microsoft.com/office/drawing/2014/main" id="{B1677B01-1DF7-BBD1-DC2C-AFE3C5324B0F}"/>
              </a:ext>
            </a:extLst>
          </p:cNvPr>
          <p:cNvSpPr txBox="1"/>
          <p:nvPr/>
        </p:nvSpPr>
        <p:spPr>
          <a:xfrm>
            <a:off x="754261" y="3666576"/>
            <a:ext cx="3224537" cy="2031325"/>
          </a:xfrm>
          <a:prstGeom prst="rect">
            <a:avLst/>
          </a:prstGeom>
          <a:noFill/>
        </p:spPr>
        <p:txBody>
          <a:bodyPr wrap="none" rtlCol="0">
            <a:spAutoFit/>
          </a:bodyPr>
          <a:lstStyle/>
          <a:p>
            <a:r>
              <a:rPr lang="en-IN" b="1" dirty="0"/>
              <a:t>Test</a:t>
            </a:r>
          </a:p>
          <a:p>
            <a:r>
              <a:rPr lang="en-IN" dirty="0"/>
              <a:t>AI can:</a:t>
            </a:r>
          </a:p>
          <a:p>
            <a:pPr marL="285750" lvl="0" indent="-285750">
              <a:buFont typeface="Arial" panose="020B0604020202020204" pitchFamily="34" charset="0"/>
              <a:buChar char="•"/>
            </a:pPr>
            <a:r>
              <a:rPr lang="en-IN" dirty="0"/>
              <a:t>Generate test cases. </a:t>
            </a:r>
          </a:p>
          <a:p>
            <a:pPr marL="285750" lvl="0" indent="-285750">
              <a:buFont typeface="Arial" panose="020B0604020202020204" pitchFamily="34" charset="0"/>
              <a:buChar char="•"/>
            </a:pPr>
            <a:r>
              <a:rPr lang="en-IN" dirty="0"/>
              <a:t>Prioritize tests. </a:t>
            </a:r>
          </a:p>
          <a:p>
            <a:pPr marL="285750" lvl="0" indent="-285750">
              <a:buFont typeface="Arial" panose="020B0604020202020204" pitchFamily="34" charset="0"/>
              <a:buChar char="•"/>
            </a:pPr>
            <a:r>
              <a:rPr lang="en-IN" dirty="0"/>
              <a:t>Identify flaky tests. </a:t>
            </a:r>
          </a:p>
          <a:p>
            <a:pPr marL="285750" lvl="0" indent="-285750">
              <a:buFont typeface="Arial" panose="020B0604020202020204" pitchFamily="34" charset="0"/>
              <a:buChar char="•"/>
            </a:pPr>
            <a:r>
              <a:rPr lang="en-IN" dirty="0"/>
              <a:t>Perform Test Impact Analysis.</a:t>
            </a:r>
          </a:p>
          <a:p>
            <a:endParaRPr lang="en-IN" dirty="0"/>
          </a:p>
        </p:txBody>
      </p:sp>
      <p:sp>
        <p:nvSpPr>
          <p:cNvPr id="9" name="TextBox 8">
            <a:extLst>
              <a:ext uri="{FF2B5EF4-FFF2-40B4-BE49-F238E27FC236}">
                <a16:creationId xmlns:a16="http://schemas.microsoft.com/office/drawing/2014/main" id="{66CDD29B-5A49-558B-254E-4797C4EE1173}"/>
              </a:ext>
            </a:extLst>
          </p:cNvPr>
          <p:cNvSpPr txBox="1"/>
          <p:nvPr/>
        </p:nvSpPr>
        <p:spPr>
          <a:xfrm>
            <a:off x="4767943" y="3712029"/>
            <a:ext cx="2526333" cy="2031325"/>
          </a:xfrm>
          <a:prstGeom prst="rect">
            <a:avLst/>
          </a:prstGeom>
          <a:noFill/>
        </p:spPr>
        <p:txBody>
          <a:bodyPr wrap="none" rtlCol="0">
            <a:spAutoFit/>
          </a:bodyPr>
          <a:lstStyle/>
          <a:p>
            <a:r>
              <a:rPr lang="en-IN" b="1" dirty="0"/>
              <a:t>Release</a:t>
            </a:r>
          </a:p>
          <a:p>
            <a:r>
              <a:rPr lang="en-IN" dirty="0"/>
              <a:t>AI can </a:t>
            </a:r>
            <a:r>
              <a:rPr lang="en-IN" dirty="0" err="1"/>
              <a:t>analyze</a:t>
            </a:r>
            <a:r>
              <a:rPr lang="en-IN" dirty="0"/>
              <a:t>:</a:t>
            </a:r>
          </a:p>
          <a:p>
            <a:pPr marL="285750" lvl="0" indent="-285750">
              <a:buFont typeface="Arial" panose="020B0604020202020204" pitchFamily="34" charset="0"/>
              <a:buChar char="•"/>
            </a:pPr>
            <a:r>
              <a:rPr lang="en-IN" dirty="0"/>
              <a:t>Deployment risk. </a:t>
            </a:r>
          </a:p>
          <a:p>
            <a:pPr marL="285750" lvl="0" indent="-285750">
              <a:buFont typeface="Arial" panose="020B0604020202020204" pitchFamily="34" charset="0"/>
              <a:buChar char="•"/>
            </a:pPr>
            <a:r>
              <a:rPr lang="en-IN" dirty="0"/>
              <a:t>Change size. </a:t>
            </a:r>
          </a:p>
          <a:p>
            <a:pPr marL="285750" lvl="0" indent="-285750">
              <a:buFont typeface="Arial" panose="020B0604020202020204" pitchFamily="34" charset="0"/>
              <a:buChar char="•"/>
            </a:pPr>
            <a:r>
              <a:rPr lang="en-IN" dirty="0"/>
              <a:t>Previous failures. </a:t>
            </a:r>
          </a:p>
          <a:p>
            <a:pPr marL="285750" lvl="0" indent="-285750">
              <a:buFont typeface="Arial" panose="020B0604020202020204" pitchFamily="34" charset="0"/>
              <a:buChar char="•"/>
            </a:pPr>
            <a:r>
              <a:rPr lang="en-IN" dirty="0"/>
              <a:t>Dependency changes.</a:t>
            </a:r>
          </a:p>
          <a:p>
            <a:endParaRPr lang="en-IN" dirty="0"/>
          </a:p>
        </p:txBody>
      </p:sp>
      <p:sp>
        <p:nvSpPr>
          <p:cNvPr id="10" name="TextBox 9">
            <a:extLst>
              <a:ext uri="{FF2B5EF4-FFF2-40B4-BE49-F238E27FC236}">
                <a16:creationId xmlns:a16="http://schemas.microsoft.com/office/drawing/2014/main" id="{DCD8099B-83A3-8B9A-5DCA-39DF667217D9}"/>
              </a:ext>
            </a:extLst>
          </p:cNvPr>
          <p:cNvSpPr txBox="1"/>
          <p:nvPr/>
        </p:nvSpPr>
        <p:spPr>
          <a:xfrm>
            <a:off x="8501743" y="3528077"/>
            <a:ext cx="2914709" cy="2308324"/>
          </a:xfrm>
          <a:prstGeom prst="rect">
            <a:avLst/>
          </a:prstGeom>
          <a:noFill/>
        </p:spPr>
        <p:txBody>
          <a:bodyPr wrap="none" rtlCol="0">
            <a:spAutoFit/>
          </a:bodyPr>
          <a:lstStyle/>
          <a:p>
            <a:r>
              <a:rPr lang="en-IN" b="1" dirty="0"/>
              <a:t>Operate</a:t>
            </a:r>
          </a:p>
          <a:p>
            <a:r>
              <a:rPr lang="en-IN" dirty="0"/>
              <a:t>AI can:</a:t>
            </a:r>
          </a:p>
          <a:p>
            <a:pPr marL="285750" lvl="0" indent="-285750">
              <a:buFont typeface="Arial" panose="020B0604020202020204" pitchFamily="34" charset="0"/>
              <a:buChar char="•"/>
            </a:pPr>
            <a:r>
              <a:rPr lang="en-IN" dirty="0" err="1"/>
              <a:t>Analyze</a:t>
            </a:r>
            <a:r>
              <a:rPr lang="en-IN" dirty="0"/>
              <a:t> logs. </a:t>
            </a:r>
          </a:p>
          <a:p>
            <a:pPr marL="285750" lvl="0" indent="-285750">
              <a:buFont typeface="Arial" panose="020B0604020202020204" pitchFamily="34" charset="0"/>
              <a:buChar char="•"/>
            </a:pPr>
            <a:r>
              <a:rPr lang="en-IN" dirty="0"/>
              <a:t>Detect anomalies. </a:t>
            </a:r>
          </a:p>
          <a:p>
            <a:pPr marL="285750" lvl="0" indent="-285750">
              <a:buFont typeface="Arial" panose="020B0604020202020204" pitchFamily="34" charset="0"/>
              <a:buChar char="•"/>
            </a:pPr>
            <a:r>
              <a:rPr lang="en-IN" dirty="0"/>
              <a:t>Correlate alerts. </a:t>
            </a:r>
          </a:p>
          <a:p>
            <a:pPr marL="285750" lvl="0" indent="-285750">
              <a:buFont typeface="Arial" panose="020B0604020202020204" pitchFamily="34" charset="0"/>
              <a:buChar char="•"/>
            </a:pPr>
            <a:r>
              <a:rPr lang="en-IN" dirty="0"/>
              <a:t>Assist RCA. </a:t>
            </a:r>
          </a:p>
          <a:p>
            <a:pPr marL="285750" lvl="0" indent="-285750">
              <a:buFont typeface="Arial" panose="020B0604020202020204" pitchFamily="34" charset="0"/>
              <a:buChar char="•"/>
            </a:pPr>
            <a:r>
              <a:rPr lang="en-IN" dirty="0"/>
              <a:t>Recommend remediation.</a:t>
            </a:r>
          </a:p>
          <a:p>
            <a:endParaRPr lang="en-IN" dirty="0"/>
          </a:p>
        </p:txBody>
      </p:sp>
    </p:spTree>
    <p:extLst>
      <p:ext uri="{BB962C8B-B14F-4D97-AF65-F5344CB8AC3E}">
        <p14:creationId xmlns:p14="http://schemas.microsoft.com/office/powerpoint/2010/main" val="2470062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1DD9D2-44C7-2A36-DA34-325B8D7FBE6E}"/>
              </a:ext>
            </a:extLst>
          </p:cNvPr>
          <p:cNvSpPr txBox="1"/>
          <p:nvPr/>
        </p:nvSpPr>
        <p:spPr>
          <a:xfrm>
            <a:off x="2897239" y="163285"/>
            <a:ext cx="6397521" cy="461665"/>
          </a:xfrm>
          <a:prstGeom prst="rect">
            <a:avLst/>
          </a:prstGeom>
          <a:noFill/>
        </p:spPr>
        <p:txBody>
          <a:bodyPr wrap="none" rtlCol="0">
            <a:spAutoFit/>
          </a:bodyPr>
          <a:lstStyle/>
          <a:p>
            <a:r>
              <a:rPr lang="en-IN" sz="2400" b="1" dirty="0"/>
              <a:t>How to Implement AI in Your DevOps Workflow?</a:t>
            </a:r>
          </a:p>
        </p:txBody>
      </p:sp>
      <p:sp>
        <p:nvSpPr>
          <p:cNvPr id="5" name="TextBox 4">
            <a:extLst>
              <a:ext uri="{FF2B5EF4-FFF2-40B4-BE49-F238E27FC236}">
                <a16:creationId xmlns:a16="http://schemas.microsoft.com/office/drawing/2014/main" id="{C06C41FE-8331-F2E3-BBDF-7812994ADE35}"/>
              </a:ext>
            </a:extLst>
          </p:cNvPr>
          <p:cNvSpPr txBox="1"/>
          <p:nvPr/>
        </p:nvSpPr>
        <p:spPr>
          <a:xfrm>
            <a:off x="359229" y="859969"/>
            <a:ext cx="11386457" cy="5632311"/>
          </a:xfrm>
          <a:prstGeom prst="rect">
            <a:avLst/>
          </a:prstGeom>
          <a:noFill/>
        </p:spPr>
        <p:txBody>
          <a:bodyPr wrap="square" rtlCol="0">
            <a:spAutoFit/>
          </a:bodyPr>
          <a:lstStyle/>
          <a:p>
            <a:r>
              <a:rPr lang="en-IN" dirty="0"/>
              <a:t>To implement AI in DevOps workflows, you need to assess readiness and define objectives, build a strong data foundation, integrate the right tools, train your team, and maintain human oversight.</a:t>
            </a:r>
          </a:p>
          <a:p>
            <a:endParaRPr lang="en-IN" dirty="0"/>
          </a:p>
          <a:p>
            <a:r>
              <a:rPr lang="en-IN" dirty="0"/>
              <a:t>Here’s how each step unfolds:</a:t>
            </a:r>
          </a:p>
          <a:p>
            <a:endParaRPr lang="en-IN" dirty="0"/>
          </a:p>
          <a:p>
            <a:r>
              <a:rPr lang="en-US" dirty="0"/>
              <a:t>Step 1: </a:t>
            </a:r>
            <a:r>
              <a:rPr lang="en-US" b="1" dirty="0"/>
              <a:t>Assess Your Current DevOps Maturity</a:t>
            </a:r>
          </a:p>
          <a:p>
            <a:endParaRPr lang="en-US" dirty="0"/>
          </a:p>
          <a:p>
            <a:r>
              <a:rPr lang="en-US" dirty="0"/>
              <a:t>Start by looking at your existing DevOps processes, tools, automation, and practices. Make sure the organization has a strong enough foundation to effectively adopt and benefit from AI.</a:t>
            </a:r>
          </a:p>
          <a:p>
            <a:endParaRPr lang="en-US" dirty="0"/>
          </a:p>
          <a:p>
            <a:r>
              <a:rPr lang="en-US" dirty="0"/>
              <a:t>Step 2: </a:t>
            </a:r>
            <a:r>
              <a:rPr lang="en-US" b="1" dirty="0"/>
              <a:t>Identify Where AI Can Add the Most Value</a:t>
            </a:r>
          </a:p>
          <a:p>
            <a:endParaRPr lang="en-US" dirty="0"/>
          </a:p>
          <a:p>
            <a:r>
              <a:rPr lang="en-US" dirty="0"/>
              <a:t>Identify areas in your DevOps pipeline where AI can make the biggest difference. This could include predictive monitoring, incident management, automated testing, regression analysis, root-cause analysis, or resource optimization.</a:t>
            </a:r>
          </a:p>
          <a:p>
            <a:endParaRPr lang="en-US" dirty="0"/>
          </a:p>
          <a:p>
            <a:r>
              <a:rPr lang="en-US" dirty="0"/>
              <a:t>Step 3: </a:t>
            </a:r>
            <a:r>
              <a:rPr lang="en-US" b="1" dirty="0"/>
              <a:t>Build a Strong Data Foundation</a:t>
            </a:r>
          </a:p>
          <a:p>
            <a:endParaRPr lang="en-US" dirty="0"/>
          </a:p>
          <a:p>
            <a:r>
              <a:rPr lang="en-US" dirty="0"/>
              <a:t>AI is only as effective as the data behind it. Establish a reliable data foundation by bringing data together, defining proper governance practices, and ensuring that the data is secure, accurate, consistent, and compliant.</a:t>
            </a:r>
          </a:p>
          <a:p>
            <a:endParaRPr lang="en-US" dirty="0"/>
          </a:p>
        </p:txBody>
      </p:sp>
    </p:spTree>
    <p:extLst>
      <p:ext uri="{BB962C8B-B14F-4D97-AF65-F5344CB8AC3E}">
        <p14:creationId xmlns:p14="http://schemas.microsoft.com/office/powerpoint/2010/main" val="114250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93F05F-110E-478E-E217-0764FEC1A50F}"/>
              </a:ext>
            </a:extLst>
          </p:cNvPr>
          <p:cNvSpPr txBox="1"/>
          <p:nvPr/>
        </p:nvSpPr>
        <p:spPr>
          <a:xfrm>
            <a:off x="423625" y="157253"/>
            <a:ext cx="11485609" cy="6485918"/>
          </a:xfrm>
          <a:prstGeom prst="rect">
            <a:avLst/>
          </a:prstGeom>
          <a:noFill/>
        </p:spPr>
        <p:txBody>
          <a:bodyPr wrap="square" rtlCol="0">
            <a:spAutoFit/>
          </a:bodyPr>
          <a:lstStyle/>
          <a:p>
            <a:r>
              <a:rPr lang="en-US" dirty="0"/>
              <a:t>Step 4: </a:t>
            </a:r>
            <a:r>
              <a:rPr lang="en-US" b="1" dirty="0"/>
              <a:t>Integrate the Right AI Tools</a:t>
            </a:r>
          </a:p>
          <a:p>
            <a:endParaRPr lang="en-US" dirty="0"/>
          </a:p>
          <a:p>
            <a:r>
              <a:rPr lang="en-US" dirty="0"/>
              <a:t>Choose and integrate AI-powered tools based on your specific needs. For example, platforms such as Dynatrace and Splunk ITSI can support intelligent monitoring, while tools like </a:t>
            </a:r>
            <a:r>
              <a:rPr lang="en-US" dirty="0" err="1"/>
              <a:t>Testim</a:t>
            </a:r>
            <a:r>
              <a:rPr lang="en-US" dirty="0"/>
              <a:t> and </a:t>
            </a:r>
            <a:r>
              <a:rPr lang="en-US" dirty="0" err="1"/>
              <a:t>Functionize</a:t>
            </a:r>
            <a:r>
              <a:rPr lang="en-US" dirty="0"/>
              <a:t> can improve automated testing. Cloud platforms such as AWS, Azure, and Google Cloud also provide AI capabilities that can enhance DevOps operations.</a:t>
            </a:r>
          </a:p>
          <a:p>
            <a:endParaRPr lang="en-US" dirty="0"/>
          </a:p>
          <a:p>
            <a:r>
              <a:rPr lang="en-US" dirty="0"/>
              <a:t>Step 5: </a:t>
            </a:r>
            <a:r>
              <a:rPr lang="en-US" b="1" dirty="0"/>
              <a:t>Create Continuous Feedback Loops</a:t>
            </a:r>
          </a:p>
          <a:p>
            <a:endParaRPr lang="en-US" dirty="0"/>
          </a:p>
          <a:p>
            <a:r>
              <a:rPr lang="en-US" dirty="0"/>
              <a:t>Allow AI systems to continuously learn from builds, deployments, monitoring data, incidents, and user feedback. Use historical data to improve AI models and dashboards to track insights and identify areas for further improvement.</a:t>
            </a:r>
          </a:p>
          <a:p>
            <a:endParaRPr lang="en-US" dirty="0"/>
          </a:p>
          <a:p>
            <a:r>
              <a:rPr lang="en-US" dirty="0"/>
              <a:t>Step 6: </a:t>
            </a:r>
            <a:r>
              <a:rPr lang="en-US" b="1" dirty="0"/>
              <a:t>Upskill Your DevOps Team</a:t>
            </a:r>
          </a:p>
          <a:p>
            <a:endParaRPr lang="en-US" dirty="0"/>
          </a:p>
          <a:p>
            <a:r>
              <a:rPr lang="en-US" dirty="0"/>
              <a:t>Give your team the knowledge and skills they need to work effectively with AI and ML technologies. Encourage collaboration between DevOps, data, and AI teams, and consider having an AIOps-focused engineer or specialist drive AI adoption across operations.</a:t>
            </a:r>
          </a:p>
          <a:p>
            <a:endParaRPr lang="en-US" dirty="0"/>
          </a:p>
          <a:p>
            <a:r>
              <a:rPr lang="en-US" dirty="0"/>
              <a:t>Step 7: </a:t>
            </a:r>
            <a:r>
              <a:rPr lang="en-US" b="1" dirty="0"/>
              <a:t>Measure, Improve, and Scale</a:t>
            </a:r>
          </a:p>
          <a:p>
            <a:endParaRPr lang="en-US" dirty="0"/>
          </a:p>
          <a:p>
            <a:r>
              <a:rPr lang="en-US" dirty="0"/>
              <a:t>Track important DevOps metrics such as MTTR, deployment frequency, and change failure rate to measure the impact of AI. Continuously improve the AI models using new data and real-world edge cases, and gradually expand AI adoption across more DevOps workflows.</a:t>
            </a:r>
            <a:endParaRPr lang="en-IN" dirty="0"/>
          </a:p>
          <a:p>
            <a:endParaRPr lang="en-IN" dirty="0"/>
          </a:p>
        </p:txBody>
      </p:sp>
    </p:spTree>
    <p:extLst>
      <p:ext uri="{BB962C8B-B14F-4D97-AF65-F5344CB8AC3E}">
        <p14:creationId xmlns:p14="http://schemas.microsoft.com/office/powerpoint/2010/main" val="455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6312D6-8B40-5A55-E10B-DF5323FFF592}"/>
              </a:ext>
            </a:extLst>
          </p:cNvPr>
          <p:cNvSpPr txBox="1"/>
          <p:nvPr/>
        </p:nvSpPr>
        <p:spPr>
          <a:xfrm>
            <a:off x="3037114" y="97972"/>
            <a:ext cx="5650906" cy="523220"/>
          </a:xfrm>
          <a:prstGeom prst="rect">
            <a:avLst/>
          </a:prstGeom>
          <a:noFill/>
        </p:spPr>
        <p:txBody>
          <a:bodyPr wrap="none" rtlCol="0">
            <a:spAutoFit/>
          </a:bodyPr>
          <a:lstStyle/>
          <a:p>
            <a:r>
              <a:rPr lang="en-IN" sz="2800" b="1" dirty="0"/>
              <a:t>Best Practices for Using AI in DevOps</a:t>
            </a:r>
          </a:p>
        </p:txBody>
      </p:sp>
      <p:sp>
        <p:nvSpPr>
          <p:cNvPr id="5" name="TextBox 4">
            <a:extLst>
              <a:ext uri="{FF2B5EF4-FFF2-40B4-BE49-F238E27FC236}">
                <a16:creationId xmlns:a16="http://schemas.microsoft.com/office/drawing/2014/main" id="{DBC3854E-C9F1-EC65-C7B4-6AA66682287F}"/>
              </a:ext>
            </a:extLst>
          </p:cNvPr>
          <p:cNvSpPr txBox="1"/>
          <p:nvPr/>
        </p:nvSpPr>
        <p:spPr>
          <a:xfrm>
            <a:off x="283029" y="751114"/>
            <a:ext cx="11671078" cy="6186309"/>
          </a:xfrm>
          <a:prstGeom prst="rect">
            <a:avLst/>
          </a:prstGeom>
          <a:noFill/>
        </p:spPr>
        <p:txBody>
          <a:bodyPr wrap="square" rtlCol="0">
            <a:spAutoFit/>
          </a:bodyPr>
          <a:lstStyle/>
          <a:p>
            <a:r>
              <a:rPr lang="en-IN" dirty="0"/>
              <a:t>To ensure successful integration of AI for DevOps as a part of best practices, you can define clear KPIs, start small and then scale strategically, ensure top-notch data quality, continuously retrain models, prioritize security and compliance, monitor AI decision accuracy, and more.</a:t>
            </a:r>
          </a:p>
          <a:p>
            <a:endParaRPr lang="en-IN" dirty="0"/>
          </a:p>
          <a:p>
            <a:r>
              <a:rPr lang="en-IN" dirty="0"/>
              <a:t>Let’s know the best practices to follow to develop AI DevOps:</a:t>
            </a:r>
          </a:p>
          <a:p>
            <a:endParaRPr lang="en-IN" dirty="0"/>
          </a:p>
          <a:p>
            <a:pPr lvl="0"/>
            <a:r>
              <a:rPr lang="en-IN" b="1" dirty="0"/>
              <a:t>Define clear KPIs: </a:t>
            </a:r>
            <a:r>
              <a:rPr lang="en-IN" dirty="0"/>
              <a:t>Track key DevOps metrics such as MTTR, deployment frequency, and change failure rate to measure AI’s real impact.</a:t>
            </a:r>
          </a:p>
          <a:p>
            <a:pPr lvl="0"/>
            <a:endParaRPr lang="en-IN" dirty="0"/>
          </a:p>
          <a:p>
            <a:pPr lvl="0"/>
            <a:r>
              <a:rPr lang="en-IN" b="1" dirty="0"/>
              <a:t>Start small, scale strategically:</a:t>
            </a:r>
            <a:r>
              <a:rPr lang="en-IN" dirty="0"/>
              <a:t> Begin with one use case, such as predictive monitoring or test automation, and expand gradually based on proven results.</a:t>
            </a:r>
          </a:p>
          <a:p>
            <a:pPr lvl="0"/>
            <a:endParaRPr lang="en-IN" dirty="0"/>
          </a:p>
          <a:p>
            <a:pPr lvl="0"/>
            <a:r>
              <a:rPr lang="en-IN" b="1" dirty="0"/>
              <a:t>Maintain data quality:</a:t>
            </a:r>
            <a:r>
              <a:rPr lang="en-IN" dirty="0"/>
              <a:t> Ensure your training and operational data are clean, consistent, and accessible across tools; poor data leads to poor predictions.</a:t>
            </a:r>
          </a:p>
          <a:p>
            <a:pPr lvl="0"/>
            <a:endParaRPr lang="en-IN" dirty="0"/>
          </a:p>
          <a:p>
            <a:pPr lvl="0"/>
            <a:r>
              <a:rPr lang="en-IN" b="1" dirty="0"/>
              <a:t>Integrate seamlessly with existing tools:</a:t>
            </a:r>
            <a:r>
              <a:rPr lang="en-IN" dirty="0"/>
              <a:t> Choose AI platforms that work with your current </a:t>
            </a:r>
            <a:r>
              <a:rPr lang="en-IN" u="sng" dirty="0" err="1"/>
              <a:t>Devops</a:t>
            </a:r>
            <a:r>
              <a:rPr lang="en-IN" u="sng" dirty="0"/>
              <a:t> tools</a:t>
            </a:r>
            <a:r>
              <a:rPr lang="en-IN" dirty="0"/>
              <a:t>, cloud provider, and monitoring systems to avoid workflow disruption.</a:t>
            </a:r>
          </a:p>
          <a:p>
            <a:pPr lvl="0"/>
            <a:endParaRPr lang="en-IN" dirty="0"/>
          </a:p>
          <a:p>
            <a:pPr lvl="0"/>
            <a:r>
              <a:rPr lang="en-IN" b="1" dirty="0"/>
              <a:t>Automate, but keep human oversight:</a:t>
            </a:r>
            <a:r>
              <a:rPr lang="en-IN" dirty="0"/>
              <a:t> Let AI handle repetitive and analytical tasks while engineers make the final calls on deployment and remediation.</a:t>
            </a:r>
          </a:p>
          <a:p>
            <a:pPr lvl="0"/>
            <a:endParaRPr lang="en-IN" dirty="0"/>
          </a:p>
          <a:p>
            <a:endParaRPr lang="en-IN" dirty="0"/>
          </a:p>
        </p:txBody>
      </p:sp>
    </p:spTree>
    <p:extLst>
      <p:ext uri="{BB962C8B-B14F-4D97-AF65-F5344CB8AC3E}">
        <p14:creationId xmlns:p14="http://schemas.microsoft.com/office/powerpoint/2010/main" val="2241207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016751-B90D-695A-3FEE-3C6BA6091EB1}"/>
              </a:ext>
            </a:extLst>
          </p:cNvPr>
          <p:cNvSpPr txBox="1"/>
          <p:nvPr/>
        </p:nvSpPr>
        <p:spPr>
          <a:xfrm>
            <a:off x="522514" y="642256"/>
            <a:ext cx="10809515" cy="4247317"/>
          </a:xfrm>
          <a:prstGeom prst="rect">
            <a:avLst/>
          </a:prstGeom>
          <a:noFill/>
        </p:spPr>
        <p:txBody>
          <a:bodyPr wrap="square" rtlCol="0">
            <a:spAutoFit/>
          </a:bodyPr>
          <a:lstStyle/>
          <a:p>
            <a:pPr lvl="0"/>
            <a:r>
              <a:rPr lang="en-IN" b="1" dirty="0"/>
              <a:t>Continuously retrain models:</a:t>
            </a:r>
            <a:r>
              <a:rPr lang="en-IN" dirty="0"/>
              <a:t> Regularly feed updated data to AI models to keep predictions accurate as environments, dependencies, and workloads evolve.</a:t>
            </a:r>
          </a:p>
          <a:p>
            <a:pPr lvl="0"/>
            <a:endParaRPr lang="en-IN" dirty="0"/>
          </a:p>
          <a:p>
            <a:pPr lvl="0"/>
            <a:r>
              <a:rPr lang="en-IN" b="1" dirty="0"/>
              <a:t>Prioritize security and compliance: </a:t>
            </a:r>
            <a:r>
              <a:rPr lang="en-IN" dirty="0"/>
              <a:t>Implement access controls, encryption, and bias checks to ensure AI-driven processes meet compliance standards.</a:t>
            </a:r>
          </a:p>
          <a:p>
            <a:pPr lvl="0"/>
            <a:endParaRPr lang="en-IN" dirty="0"/>
          </a:p>
          <a:p>
            <a:pPr lvl="0"/>
            <a:r>
              <a:rPr lang="en-IN" b="1" dirty="0"/>
              <a:t>Promote cross-functional collaboration: </a:t>
            </a:r>
            <a:r>
              <a:rPr lang="en-IN" dirty="0"/>
              <a:t>Encourage Dev, Ops, QA, and data science teams to share insights, align goals, and co-own AI initiatives.</a:t>
            </a:r>
          </a:p>
          <a:p>
            <a:pPr lvl="0"/>
            <a:endParaRPr lang="en-IN" dirty="0"/>
          </a:p>
          <a:p>
            <a:pPr lvl="0"/>
            <a:r>
              <a:rPr lang="en-IN" b="1" dirty="0"/>
              <a:t>Monitor AI decision accuracy: </a:t>
            </a:r>
            <a:r>
              <a:rPr lang="en-IN" dirty="0"/>
              <a:t>Regularly audit AI outputs to ensure transparency, fairness, and trust across automated processes.</a:t>
            </a:r>
          </a:p>
          <a:p>
            <a:pPr lvl="0"/>
            <a:endParaRPr lang="en-IN" dirty="0"/>
          </a:p>
          <a:p>
            <a:pPr lvl="0"/>
            <a:r>
              <a:rPr lang="en-IN" b="1" dirty="0"/>
              <a:t>Document and iterate: </a:t>
            </a:r>
            <a:r>
              <a:rPr lang="en-IN" dirty="0"/>
              <a:t>Maintain clear documentation of AI models, configurations, and outcomes to ensure scalability and continuous improvement.</a:t>
            </a:r>
          </a:p>
          <a:p>
            <a:endParaRPr lang="en-IN" dirty="0"/>
          </a:p>
        </p:txBody>
      </p:sp>
    </p:spTree>
    <p:extLst>
      <p:ext uri="{BB962C8B-B14F-4D97-AF65-F5344CB8AC3E}">
        <p14:creationId xmlns:p14="http://schemas.microsoft.com/office/powerpoint/2010/main" val="1152927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47418F-E512-5BA3-2E1D-7A5F84FF5592}"/>
              </a:ext>
            </a:extLst>
          </p:cNvPr>
          <p:cNvSpPr txBox="1"/>
          <p:nvPr/>
        </p:nvSpPr>
        <p:spPr>
          <a:xfrm>
            <a:off x="1575412" y="88135"/>
            <a:ext cx="9342304" cy="461665"/>
          </a:xfrm>
          <a:prstGeom prst="rect">
            <a:avLst/>
          </a:prstGeom>
          <a:noFill/>
        </p:spPr>
        <p:txBody>
          <a:bodyPr wrap="square" rtlCol="0">
            <a:spAutoFit/>
          </a:bodyPr>
          <a:lstStyle/>
          <a:p>
            <a:r>
              <a:rPr lang="en-IN" sz="2400" b="1" dirty="0"/>
              <a:t>Challenges of Integrating AI in DevOps and How to Address Them</a:t>
            </a:r>
          </a:p>
        </p:txBody>
      </p:sp>
      <p:sp>
        <p:nvSpPr>
          <p:cNvPr id="7" name="TextBox 6">
            <a:extLst>
              <a:ext uri="{FF2B5EF4-FFF2-40B4-BE49-F238E27FC236}">
                <a16:creationId xmlns:a16="http://schemas.microsoft.com/office/drawing/2014/main" id="{7A5A611A-8016-BCA5-2243-88EBA727BD00}"/>
              </a:ext>
            </a:extLst>
          </p:cNvPr>
          <p:cNvSpPr txBox="1"/>
          <p:nvPr/>
        </p:nvSpPr>
        <p:spPr>
          <a:xfrm>
            <a:off x="341522" y="595953"/>
            <a:ext cx="11567712" cy="6186309"/>
          </a:xfrm>
          <a:prstGeom prst="rect">
            <a:avLst/>
          </a:prstGeom>
          <a:noFill/>
        </p:spPr>
        <p:txBody>
          <a:bodyPr wrap="square" rtlCol="0">
            <a:spAutoFit/>
          </a:bodyPr>
          <a:lstStyle/>
          <a:p>
            <a:r>
              <a:rPr lang="en-IN" dirty="0"/>
              <a:t>When implementing AI in DevOps, you can expect to face common challenges like integration complexity, data quality and availability, skill and knowledge gaps, cultural resistance to change, and security and compliance risks.</a:t>
            </a:r>
          </a:p>
          <a:p>
            <a:endParaRPr lang="en-IN" dirty="0"/>
          </a:p>
          <a:p>
            <a:r>
              <a:rPr lang="en-IN" dirty="0"/>
              <a:t>Let’s know how these challenges arise and how to solve them:</a:t>
            </a:r>
            <a:br>
              <a:rPr lang="en-IN" dirty="0"/>
            </a:br>
            <a:br>
              <a:rPr lang="en-IN" dirty="0"/>
            </a:br>
            <a:r>
              <a:rPr lang="en-US" b="1" dirty="0"/>
              <a:t>Integration Complexity</a:t>
            </a:r>
          </a:p>
          <a:p>
            <a:r>
              <a:rPr lang="en-US" dirty="0"/>
              <a:t>Integrating AI into an existing DevOps environment can be challenging because you may already have multiple tools, pipelines, and legacy systems working together. Adding another layer of technology can create compatibility and integration issues.</a:t>
            </a:r>
          </a:p>
          <a:p>
            <a:endParaRPr lang="en-US" dirty="0"/>
          </a:p>
          <a:p>
            <a:r>
              <a:rPr lang="en-US" b="1" dirty="0"/>
              <a:t>How to address it</a:t>
            </a:r>
            <a:r>
              <a:rPr lang="en-US" dirty="0"/>
              <a:t>: Start small and use modular AI integrations that work with your existing DevOps tools. APIs, cloud-native connectors, and AIOps platforms can help you introduce AI without having to completely replace your current setup.</a:t>
            </a:r>
          </a:p>
          <a:p>
            <a:endParaRPr lang="en-US" dirty="0"/>
          </a:p>
          <a:p>
            <a:r>
              <a:rPr lang="en-US" b="1" dirty="0"/>
              <a:t>Data Quality and Availability</a:t>
            </a:r>
          </a:p>
          <a:p>
            <a:r>
              <a:rPr lang="en-US" dirty="0"/>
              <a:t>AI depends heavily on the quality of the data it receives. If your logs, metrics, and other operational data are incomplete, inconsistent, or spread across different systems, the AI may produce inaccurate or unreliable results.</a:t>
            </a:r>
          </a:p>
          <a:p>
            <a:endParaRPr lang="en-US" dirty="0"/>
          </a:p>
          <a:p>
            <a:r>
              <a:rPr lang="en-US" b="1" dirty="0"/>
              <a:t>How to address it</a:t>
            </a:r>
            <a:r>
              <a:rPr lang="en-US" dirty="0"/>
              <a:t>: Build a centralized and reliable data foundation. Bring together logs, metrics, traces, incidents, and feedback data, and establish proper data governance to maintain data quality, consistency, security, and compliance.</a:t>
            </a:r>
          </a:p>
          <a:p>
            <a:endParaRPr lang="en-IN" dirty="0"/>
          </a:p>
          <a:p>
            <a:endParaRPr lang="en-IN" dirty="0"/>
          </a:p>
        </p:txBody>
      </p:sp>
    </p:spTree>
    <p:extLst>
      <p:ext uri="{BB962C8B-B14F-4D97-AF65-F5344CB8AC3E}">
        <p14:creationId xmlns:p14="http://schemas.microsoft.com/office/powerpoint/2010/main" val="756473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EBE64B-0646-344E-D093-5E55C061AC5D}"/>
              </a:ext>
            </a:extLst>
          </p:cNvPr>
          <p:cNvSpPr txBox="1"/>
          <p:nvPr/>
        </p:nvSpPr>
        <p:spPr>
          <a:xfrm>
            <a:off x="283845" y="245538"/>
            <a:ext cx="11624310" cy="5078313"/>
          </a:xfrm>
          <a:prstGeom prst="rect">
            <a:avLst/>
          </a:prstGeom>
          <a:noFill/>
        </p:spPr>
        <p:txBody>
          <a:bodyPr wrap="square" rtlCol="0">
            <a:spAutoFit/>
          </a:bodyPr>
          <a:lstStyle/>
          <a:p>
            <a:r>
              <a:rPr lang="en-US" b="1" dirty="0"/>
              <a:t>Cultural Resistance to Change</a:t>
            </a:r>
          </a:p>
          <a:p>
            <a:r>
              <a:rPr lang="en-US" dirty="0"/>
              <a:t>AI adoption can sometimes create concerns within teams, especially when people worry that automation could replace their roles. This can lead to resistance and make AI adoption more difficult.</a:t>
            </a:r>
          </a:p>
          <a:p>
            <a:endParaRPr lang="en-US" dirty="0"/>
          </a:p>
          <a:p>
            <a:r>
              <a:rPr lang="en-US" b="1" dirty="0"/>
              <a:t>How to address it</a:t>
            </a:r>
            <a:r>
              <a:rPr lang="en-US" dirty="0"/>
              <a:t>: Be transparent about how AI will be used and focus on augmentation rather than replacement. Involve the team early, clearly explain the benefits, and demonstrate how AI can reduce repetitive work and give engineers more time to focus on complex and valuable tasks.</a:t>
            </a:r>
          </a:p>
          <a:p>
            <a:endParaRPr lang="en-US" dirty="0"/>
          </a:p>
          <a:p>
            <a:endParaRPr lang="en-US" dirty="0"/>
          </a:p>
          <a:p>
            <a:endParaRPr lang="en-US" dirty="0"/>
          </a:p>
          <a:p>
            <a:r>
              <a:rPr lang="en-US" b="1" dirty="0"/>
              <a:t>Security and Compliance Risks</a:t>
            </a:r>
          </a:p>
          <a:p>
            <a:r>
              <a:rPr lang="en-US" dirty="0"/>
              <a:t>AI systems often need access to large amounts of operational and business data. If that data contains sensitive information, introducing AI can create additional security, privacy, and compliance risks.</a:t>
            </a:r>
          </a:p>
          <a:p>
            <a:endParaRPr lang="en-US" dirty="0"/>
          </a:p>
          <a:p>
            <a:r>
              <a:rPr lang="en-US" b="1" dirty="0"/>
              <a:t>How to address it</a:t>
            </a:r>
            <a:r>
              <a:rPr lang="en-US" dirty="0"/>
              <a:t>: Implement strong access controls, encryption, data masking or anonymization, and monitoring. Make sure the AI tools you choose meet the security and compliance requirements relevant to your organization, such as GDPR, HIPAA, or ISO 27001.</a:t>
            </a:r>
          </a:p>
          <a:p>
            <a:endParaRPr lang="en-IN" dirty="0"/>
          </a:p>
        </p:txBody>
      </p:sp>
    </p:spTree>
    <p:extLst>
      <p:ext uri="{BB962C8B-B14F-4D97-AF65-F5344CB8AC3E}">
        <p14:creationId xmlns:p14="http://schemas.microsoft.com/office/powerpoint/2010/main" val="933751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63D015-219C-56A3-C6E8-45B29BD568F0}"/>
              </a:ext>
            </a:extLst>
          </p:cNvPr>
          <p:cNvSpPr txBox="1"/>
          <p:nvPr/>
        </p:nvSpPr>
        <p:spPr>
          <a:xfrm>
            <a:off x="3189711" y="154236"/>
            <a:ext cx="5285742" cy="461665"/>
          </a:xfrm>
          <a:prstGeom prst="rect">
            <a:avLst/>
          </a:prstGeom>
          <a:noFill/>
        </p:spPr>
        <p:txBody>
          <a:bodyPr wrap="none" rtlCol="0">
            <a:spAutoFit/>
          </a:bodyPr>
          <a:lstStyle/>
          <a:p>
            <a:r>
              <a:rPr lang="en-IN" sz="2400" b="1" dirty="0"/>
              <a:t>Types of AI to Use in DevOps Workflows</a:t>
            </a:r>
          </a:p>
        </p:txBody>
      </p:sp>
      <p:sp>
        <p:nvSpPr>
          <p:cNvPr id="7" name="TextBox 6">
            <a:extLst>
              <a:ext uri="{FF2B5EF4-FFF2-40B4-BE49-F238E27FC236}">
                <a16:creationId xmlns:a16="http://schemas.microsoft.com/office/drawing/2014/main" id="{D53CF764-ECB1-C4A4-3E52-0DD208E22B28}"/>
              </a:ext>
            </a:extLst>
          </p:cNvPr>
          <p:cNvSpPr txBox="1"/>
          <p:nvPr/>
        </p:nvSpPr>
        <p:spPr>
          <a:xfrm>
            <a:off x="253388" y="892365"/>
            <a:ext cx="11391441" cy="5909310"/>
          </a:xfrm>
          <a:prstGeom prst="rect">
            <a:avLst/>
          </a:prstGeom>
          <a:noFill/>
        </p:spPr>
        <p:txBody>
          <a:bodyPr wrap="square" rtlCol="0">
            <a:spAutoFit/>
          </a:bodyPr>
          <a:lstStyle/>
          <a:p>
            <a:r>
              <a:rPr lang="en-IN" dirty="0"/>
              <a:t>The main types of AI used in DevOps workflows include machine learning, natural language models, large language models (LLMs), and computer vision.</a:t>
            </a:r>
          </a:p>
          <a:p>
            <a:endParaRPr lang="en-IN" dirty="0"/>
          </a:p>
          <a:p>
            <a:r>
              <a:rPr lang="en-IN" dirty="0"/>
              <a:t>Let’s know how you can utilize these types of AI for DevOps workflows:</a:t>
            </a:r>
          </a:p>
          <a:p>
            <a:br>
              <a:rPr lang="en-IN" dirty="0"/>
            </a:br>
            <a:r>
              <a:rPr lang="en-US" dirty="0"/>
              <a:t>1. </a:t>
            </a:r>
            <a:r>
              <a:rPr lang="en-US" b="1" dirty="0"/>
              <a:t>Machine Learning</a:t>
            </a:r>
          </a:p>
          <a:p>
            <a:r>
              <a:rPr lang="en-US" dirty="0"/>
              <a:t>Machine Learning can analyze large amounts of historical DevOps data, such as logs, metrics, incidents, deployments, and user behavior, to identify patterns and predict what might happen in the future.</a:t>
            </a:r>
          </a:p>
          <a:p>
            <a:endParaRPr lang="en-US" dirty="0"/>
          </a:p>
          <a:p>
            <a:r>
              <a:rPr lang="en-US" dirty="0"/>
              <a:t>For example, ML can help with predicting system failures, detecting unusual behavior, automatically scaling resources, identifying potential security issues, and predicting deployment risks.</a:t>
            </a:r>
          </a:p>
          <a:p>
            <a:endParaRPr lang="en-US" dirty="0"/>
          </a:p>
          <a:p>
            <a:r>
              <a:rPr lang="en-US" dirty="0"/>
              <a:t>2. </a:t>
            </a:r>
            <a:r>
              <a:rPr lang="en-US" b="1" dirty="0"/>
              <a:t>Natural Language Processing (NLP)</a:t>
            </a:r>
          </a:p>
          <a:p>
            <a:r>
              <a:rPr lang="en-US" dirty="0"/>
              <a:t>NLP enables systems to understand and work with human language. In DevOps, it can be used to analyze logs and incident descriptions, generate reports and documentation, and make it easier for engineers to interact with DevOps tools using natural language.</a:t>
            </a:r>
          </a:p>
          <a:p>
            <a:endParaRPr lang="en-US" dirty="0"/>
          </a:p>
          <a:p>
            <a:r>
              <a:rPr lang="en-US" dirty="0"/>
              <a:t>For example, instead of manually searching through thousands of log entries, an engineer could ask, “Why did the application fail after the latest deployment?” and an AI system could analyze the available information and provide useful insights.</a:t>
            </a:r>
          </a:p>
          <a:p>
            <a:endParaRPr lang="en-US" dirty="0"/>
          </a:p>
        </p:txBody>
      </p:sp>
    </p:spTree>
    <p:extLst>
      <p:ext uri="{BB962C8B-B14F-4D97-AF65-F5344CB8AC3E}">
        <p14:creationId xmlns:p14="http://schemas.microsoft.com/office/powerpoint/2010/main" val="4025682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385A3B-2E7D-CB3E-4D02-F8FD4C6E7834}"/>
              </a:ext>
            </a:extLst>
          </p:cNvPr>
          <p:cNvSpPr txBox="1"/>
          <p:nvPr/>
        </p:nvSpPr>
        <p:spPr>
          <a:xfrm>
            <a:off x="429658" y="451692"/>
            <a:ext cx="11336355" cy="4524315"/>
          </a:xfrm>
          <a:prstGeom prst="rect">
            <a:avLst/>
          </a:prstGeom>
          <a:noFill/>
        </p:spPr>
        <p:txBody>
          <a:bodyPr wrap="square" rtlCol="0">
            <a:spAutoFit/>
          </a:bodyPr>
          <a:lstStyle/>
          <a:p>
            <a:r>
              <a:rPr lang="en-US" dirty="0"/>
              <a:t>3. </a:t>
            </a:r>
            <a:r>
              <a:rPr lang="en-US" b="1" dirty="0"/>
              <a:t>Large Language Models (LLMs)</a:t>
            </a:r>
          </a:p>
          <a:p>
            <a:endParaRPr lang="en-US" dirty="0"/>
          </a:p>
          <a:p>
            <a:r>
              <a:rPr lang="en-US" dirty="0"/>
              <a:t>LLMs such as GPT-based models can act as an AI assistant for DevOps engineers. They can help generate code snippets, Terraform configurations, YAML pipelines, test cases, documentation, and troubleshooting steps.</a:t>
            </a:r>
          </a:p>
          <a:p>
            <a:endParaRPr lang="en-US" dirty="0"/>
          </a:p>
          <a:p>
            <a:r>
              <a:rPr lang="en-US" dirty="0"/>
              <a:t>They can also assist with code reviews, explaining errors, analyzing pipeline failures, and suggesting improvements based on prompts and the context provided.</a:t>
            </a:r>
          </a:p>
          <a:p>
            <a:endParaRPr lang="en-US" dirty="0"/>
          </a:p>
          <a:p>
            <a:r>
              <a:rPr lang="en-US" dirty="0"/>
              <a:t>4. </a:t>
            </a:r>
            <a:r>
              <a:rPr lang="en-US" b="1" dirty="0"/>
              <a:t>Computer Vision</a:t>
            </a:r>
          </a:p>
          <a:p>
            <a:endParaRPr lang="en-US" dirty="0"/>
          </a:p>
          <a:p>
            <a:r>
              <a:rPr lang="en-US" dirty="0"/>
              <a:t>Computer Vision allows AI systems to understand and analyze images or visual information. In DevOps, it can be particularly useful for visual testing and monitoring applications.</a:t>
            </a:r>
          </a:p>
          <a:p>
            <a:endParaRPr lang="en-US" dirty="0"/>
          </a:p>
          <a:p>
            <a:r>
              <a:rPr lang="en-US" dirty="0"/>
              <a:t>For example, it can automatically compare application screens before and after a deployment to identify UI changes, visual regressions, or unexpected interface issues. It can also support automated image-based testing and monitoring.</a:t>
            </a:r>
            <a:endParaRPr lang="en-IN" dirty="0"/>
          </a:p>
          <a:p>
            <a:endParaRPr lang="en-IN" dirty="0"/>
          </a:p>
        </p:txBody>
      </p:sp>
    </p:spTree>
    <p:extLst>
      <p:ext uri="{BB962C8B-B14F-4D97-AF65-F5344CB8AC3E}">
        <p14:creationId xmlns:p14="http://schemas.microsoft.com/office/powerpoint/2010/main" val="1819200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647D5D-64CE-4D4C-56D9-51E960243321}"/>
              </a:ext>
            </a:extLst>
          </p:cNvPr>
          <p:cNvSpPr txBox="1"/>
          <p:nvPr/>
        </p:nvSpPr>
        <p:spPr>
          <a:xfrm>
            <a:off x="440674" y="363557"/>
            <a:ext cx="11325340" cy="7078861"/>
          </a:xfrm>
          <a:prstGeom prst="rect">
            <a:avLst/>
          </a:prstGeom>
          <a:noFill/>
        </p:spPr>
        <p:txBody>
          <a:bodyPr wrap="square" rtlCol="0">
            <a:spAutoFit/>
          </a:bodyPr>
          <a:lstStyle/>
          <a:p>
            <a:r>
              <a:rPr lang="en-IN" b="1" dirty="0"/>
              <a:t>                                                                              DevOps examples</a:t>
            </a:r>
          </a:p>
          <a:p>
            <a:r>
              <a:rPr lang="en-IN" dirty="0"/>
              <a:t>AI can:</a:t>
            </a:r>
          </a:p>
          <a:p>
            <a:pPr lvl="0"/>
            <a:r>
              <a:rPr lang="en-IN" dirty="0"/>
              <a:t>Detect abnormal CPU </a:t>
            </a:r>
            <a:r>
              <a:rPr lang="en-IN" dirty="0" err="1"/>
              <a:t>behavior</a:t>
            </a:r>
            <a:r>
              <a:rPr lang="en-IN" dirty="0"/>
              <a:t>. </a:t>
            </a:r>
          </a:p>
          <a:p>
            <a:pPr lvl="0"/>
            <a:r>
              <a:rPr lang="en-IN" dirty="0"/>
              <a:t>Predict a pipeline failure. </a:t>
            </a:r>
          </a:p>
          <a:p>
            <a:pPr lvl="0"/>
            <a:r>
              <a:rPr lang="en-IN" dirty="0"/>
              <a:t>Classify an incident. </a:t>
            </a:r>
          </a:p>
          <a:p>
            <a:pPr lvl="0"/>
            <a:r>
              <a:rPr lang="en-IN" dirty="0"/>
              <a:t>Identify unusual network traffic. </a:t>
            </a:r>
          </a:p>
          <a:p>
            <a:pPr lvl="0"/>
            <a:r>
              <a:rPr lang="en-IN" dirty="0"/>
              <a:t>Recommend infrastructure changes. </a:t>
            </a:r>
          </a:p>
          <a:p>
            <a:r>
              <a:rPr lang="en-IN" dirty="0"/>
              <a:t>Correlate thousands of monitoring alerts.</a:t>
            </a:r>
            <a:br>
              <a:rPr lang="en-IN" dirty="0"/>
            </a:br>
            <a:br>
              <a:rPr lang="en-IN" dirty="0"/>
            </a:br>
            <a:r>
              <a:rPr lang="en-IN" dirty="0"/>
              <a:t>You ask:</a:t>
            </a:r>
          </a:p>
          <a:p>
            <a:r>
              <a:rPr lang="en-IN" dirty="0"/>
              <a:t>Generate a Terraform configuration for an Azure Storage Account with private endpoint and diagnostic settings.</a:t>
            </a:r>
          </a:p>
          <a:p>
            <a:r>
              <a:rPr lang="en-IN" dirty="0"/>
              <a:t>However:</a:t>
            </a:r>
          </a:p>
          <a:p>
            <a:r>
              <a:rPr lang="en-IN" b="1" dirty="0"/>
              <a:t>Generated does not mean validated.</a:t>
            </a:r>
            <a:endParaRPr lang="en-IN" dirty="0"/>
          </a:p>
          <a:p>
            <a:pPr lvl="8"/>
            <a:br>
              <a:rPr lang="en-IN" sz="1600" dirty="0"/>
            </a:br>
            <a:r>
              <a:rPr lang="en-IN" sz="1200" dirty="0"/>
              <a:t>You still need:</a:t>
            </a:r>
          </a:p>
          <a:p>
            <a:pPr lvl="8"/>
            <a:r>
              <a:rPr lang="en-IN" sz="1200" dirty="0"/>
              <a:t>AI Generation</a:t>
            </a:r>
          </a:p>
          <a:p>
            <a:pPr lvl="8"/>
            <a:r>
              <a:rPr lang="en-IN" sz="1200" dirty="0"/>
              <a:t>      ↓</a:t>
            </a:r>
          </a:p>
          <a:p>
            <a:pPr lvl="8"/>
            <a:r>
              <a:rPr lang="en-IN" sz="1200" dirty="0"/>
              <a:t>Terraform </a:t>
            </a:r>
            <a:r>
              <a:rPr lang="en-IN" sz="1200" dirty="0" err="1"/>
              <a:t>fmt</a:t>
            </a:r>
            <a:endParaRPr lang="en-IN" sz="1200" dirty="0"/>
          </a:p>
          <a:p>
            <a:pPr lvl="8"/>
            <a:r>
              <a:rPr lang="en-IN" sz="1200" dirty="0"/>
              <a:t>      ↓</a:t>
            </a:r>
          </a:p>
          <a:p>
            <a:pPr lvl="8"/>
            <a:r>
              <a:rPr lang="en-IN" sz="1200" dirty="0"/>
              <a:t>Terraform validate</a:t>
            </a:r>
          </a:p>
          <a:p>
            <a:pPr lvl="8"/>
            <a:r>
              <a:rPr lang="en-IN" sz="1200" dirty="0"/>
              <a:t>      ↓</a:t>
            </a:r>
          </a:p>
          <a:p>
            <a:pPr lvl="8"/>
            <a:r>
              <a:rPr lang="en-IN" sz="1200" dirty="0"/>
              <a:t>Security scan</a:t>
            </a:r>
          </a:p>
          <a:p>
            <a:pPr lvl="8"/>
            <a:r>
              <a:rPr lang="en-IN" sz="1200" dirty="0"/>
              <a:t>      ↓</a:t>
            </a:r>
          </a:p>
          <a:p>
            <a:pPr lvl="8"/>
            <a:r>
              <a:rPr lang="en-IN" sz="1200" dirty="0"/>
              <a:t>Terraform plan</a:t>
            </a:r>
          </a:p>
          <a:p>
            <a:pPr lvl="8"/>
            <a:r>
              <a:rPr lang="en-IN" sz="1200" dirty="0"/>
              <a:t>      ↓</a:t>
            </a:r>
          </a:p>
          <a:p>
            <a:pPr lvl="8"/>
            <a:r>
              <a:rPr lang="en-IN" sz="1200" dirty="0"/>
              <a:t>Human review</a:t>
            </a:r>
          </a:p>
          <a:p>
            <a:pPr lvl="8"/>
            <a:r>
              <a:rPr lang="en-IN" sz="1200" dirty="0"/>
              <a:t>      ↓</a:t>
            </a:r>
          </a:p>
          <a:p>
            <a:pPr lvl="8"/>
            <a:r>
              <a:rPr lang="en-IN" sz="1200" dirty="0"/>
              <a:t>Apply</a:t>
            </a:r>
          </a:p>
          <a:p>
            <a:br>
              <a:rPr lang="en-IN" dirty="0"/>
            </a:br>
            <a:endParaRPr lang="en-IN" dirty="0"/>
          </a:p>
        </p:txBody>
      </p:sp>
    </p:spTree>
    <p:extLst>
      <p:ext uri="{BB962C8B-B14F-4D97-AF65-F5344CB8AC3E}">
        <p14:creationId xmlns:p14="http://schemas.microsoft.com/office/powerpoint/2010/main" val="2010519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16E491-BBDB-6280-1163-F8DA81A39850}"/>
              </a:ext>
            </a:extLst>
          </p:cNvPr>
          <p:cNvSpPr txBox="1"/>
          <p:nvPr/>
        </p:nvSpPr>
        <p:spPr>
          <a:xfrm>
            <a:off x="253389" y="143219"/>
            <a:ext cx="11821098" cy="7017306"/>
          </a:xfrm>
          <a:prstGeom prst="rect">
            <a:avLst/>
          </a:prstGeom>
          <a:noFill/>
        </p:spPr>
        <p:txBody>
          <a:bodyPr wrap="square" rtlCol="0">
            <a:spAutoFit/>
          </a:bodyPr>
          <a:lstStyle/>
          <a:p>
            <a:r>
              <a:rPr lang="en-IN" b="1" dirty="0"/>
              <a:t>Machine Learning Example</a:t>
            </a:r>
          </a:p>
          <a:p>
            <a:endParaRPr lang="en-IN" b="1" dirty="0"/>
          </a:p>
          <a:p>
            <a:r>
              <a:rPr lang="en-IN" dirty="0"/>
              <a:t>Suppose you have 10,000 historical Azure DevOps pipeline executions.</a:t>
            </a:r>
          </a:p>
          <a:p>
            <a:r>
              <a:rPr lang="en-IN" dirty="0"/>
              <a:t>The data contains:</a:t>
            </a:r>
          </a:p>
          <a:p>
            <a:pPr lvl="6"/>
            <a:r>
              <a:rPr lang="en-IN" dirty="0"/>
              <a:t>Commit size</a:t>
            </a:r>
          </a:p>
          <a:p>
            <a:pPr lvl="6"/>
            <a:r>
              <a:rPr lang="en-IN" dirty="0"/>
              <a:t>Files changed</a:t>
            </a:r>
          </a:p>
          <a:p>
            <a:pPr lvl="6"/>
            <a:r>
              <a:rPr lang="en-IN" dirty="0"/>
              <a:t>Developer</a:t>
            </a:r>
          </a:p>
          <a:p>
            <a:pPr lvl="6"/>
            <a:r>
              <a:rPr lang="en-IN" dirty="0"/>
              <a:t>Branch</a:t>
            </a:r>
          </a:p>
          <a:p>
            <a:pPr lvl="6"/>
            <a:r>
              <a:rPr lang="en-IN" dirty="0"/>
              <a:t>Build duration</a:t>
            </a:r>
          </a:p>
          <a:p>
            <a:pPr lvl="6"/>
            <a:r>
              <a:rPr lang="en-IN" dirty="0"/>
              <a:t>Dependencies</a:t>
            </a:r>
          </a:p>
          <a:p>
            <a:pPr lvl="6"/>
            <a:r>
              <a:rPr lang="en-IN" dirty="0"/>
              <a:t>Test count</a:t>
            </a:r>
          </a:p>
          <a:p>
            <a:pPr lvl="6"/>
            <a:r>
              <a:rPr lang="en-IN" dirty="0"/>
              <a:t>Previous failures</a:t>
            </a:r>
          </a:p>
          <a:p>
            <a:pPr lvl="6"/>
            <a:r>
              <a:rPr lang="en-IN" dirty="0"/>
              <a:t>Pipeline result</a:t>
            </a:r>
          </a:p>
          <a:p>
            <a:endParaRPr lang="en-IN" dirty="0"/>
          </a:p>
          <a:p>
            <a:r>
              <a:rPr lang="en-IN" dirty="0"/>
              <a:t>An ML model can learn patterns associated with failed pipelines.</a:t>
            </a:r>
          </a:p>
          <a:p>
            <a:r>
              <a:rPr lang="en-IN" dirty="0"/>
              <a:t>When a new commit arrives:</a:t>
            </a:r>
          </a:p>
          <a:p>
            <a:pPr lvl="6"/>
            <a:r>
              <a:rPr lang="en-IN" dirty="0"/>
              <a:t>New Commit</a:t>
            </a:r>
          </a:p>
          <a:p>
            <a:pPr lvl="6"/>
            <a:r>
              <a:rPr lang="en-IN" dirty="0"/>
              <a:t>     ↓</a:t>
            </a:r>
          </a:p>
          <a:p>
            <a:pPr lvl="6"/>
            <a:r>
              <a:rPr lang="en-IN" dirty="0"/>
              <a:t>ML Model</a:t>
            </a:r>
          </a:p>
          <a:p>
            <a:pPr lvl="6"/>
            <a:r>
              <a:rPr lang="en-IN" dirty="0"/>
              <a:t>     ↓</a:t>
            </a:r>
          </a:p>
          <a:p>
            <a:pPr lvl="6"/>
            <a:r>
              <a:rPr lang="en-IN" dirty="0"/>
              <a:t>Failure probability = 82%</a:t>
            </a:r>
          </a:p>
          <a:p>
            <a:pPr lvl="6"/>
            <a:endParaRPr lang="en-IN" dirty="0"/>
          </a:p>
          <a:p>
            <a:r>
              <a:rPr lang="en-IN" dirty="0"/>
              <a:t>The DevOps platform could then recommend additional testing.</a:t>
            </a:r>
          </a:p>
          <a:p>
            <a:pPr lvl="0"/>
            <a:endParaRPr lang="en-IN" dirty="0"/>
          </a:p>
          <a:p>
            <a:endParaRPr lang="en-IN" dirty="0"/>
          </a:p>
        </p:txBody>
      </p:sp>
    </p:spTree>
    <p:extLst>
      <p:ext uri="{BB962C8B-B14F-4D97-AF65-F5344CB8AC3E}">
        <p14:creationId xmlns:p14="http://schemas.microsoft.com/office/powerpoint/2010/main" val="308424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49C539-E228-9A06-4875-C938E66AABB2}"/>
              </a:ext>
            </a:extLst>
          </p:cNvPr>
          <p:cNvSpPr txBox="1"/>
          <p:nvPr/>
        </p:nvSpPr>
        <p:spPr>
          <a:xfrm>
            <a:off x="495760" y="1167788"/>
            <a:ext cx="11696240" cy="3139321"/>
          </a:xfrm>
          <a:prstGeom prst="rect">
            <a:avLst/>
          </a:prstGeom>
          <a:noFill/>
        </p:spPr>
        <p:txBody>
          <a:bodyPr wrap="square" rtlCol="0">
            <a:spAutoFit/>
          </a:bodyPr>
          <a:lstStyle/>
          <a:p>
            <a:r>
              <a:rPr lang="en-IN" b="1" dirty="0"/>
              <a:t>Generative AI </a:t>
            </a:r>
            <a:r>
              <a:rPr lang="en-IN" dirty="0"/>
              <a:t>creates new content based on learned patterns.</a:t>
            </a:r>
          </a:p>
          <a:p>
            <a:pPr lvl="7"/>
            <a:r>
              <a:rPr lang="en-IN" dirty="0"/>
              <a:t>Examples:</a:t>
            </a:r>
          </a:p>
          <a:p>
            <a:pPr lvl="7"/>
            <a:r>
              <a:rPr lang="en-IN" dirty="0"/>
              <a:t>Text </a:t>
            </a:r>
          </a:p>
          <a:p>
            <a:pPr lvl="7"/>
            <a:r>
              <a:rPr lang="en-IN" dirty="0"/>
              <a:t>Code </a:t>
            </a:r>
          </a:p>
          <a:p>
            <a:pPr lvl="7"/>
            <a:r>
              <a:rPr lang="en-IN" dirty="0"/>
              <a:t>YAML </a:t>
            </a:r>
          </a:p>
          <a:p>
            <a:pPr lvl="7"/>
            <a:r>
              <a:rPr lang="en-IN" dirty="0"/>
              <a:t>Terraform </a:t>
            </a:r>
          </a:p>
          <a:p>
            <a:pPr lvl="7"/>
            <a:r>
              <a:rPr lang="en-IN" dirty="0"/>
              <a:t>Bash scripts </a:t>
            </a:r>
          </a:p>
          <a:p>
            <a:pPr lvl="7"/>
            <a:r>
              <a:rPr lang="en-IN" dirty="0"/>
              <a:t>Documentation </a:t>
            </a:r>
          </a:p>
          <a:p>
            <a:pPr lvl="7"/>
            <a:r>
              <a:rPr lang="en-IN" dirty="0"/>
              <a:t>Test cases </a:t>
            </a:r>
          </a:p>
          <a:p>
            <a:pPr lvl="7"/>
            <a:r>
              <a:rPr lang="en-IN" dirty="0"/>
              <a:t>SQL queries </a:t>
            </a:r>
            <a:endParaRPr lang="en-IN" b="1" dirty="0"/>
          </a:p>
          <a:p>
            <a:endParaRPr lang="en-IN" dirty="0"/>
          </a:p>
        </p:txBody>
      </p:sp>
    </p:spTree>
    <p:extLst>
      <p:ext uri="{BB962C8B-B14F-4D97-AF65-F5344CB8AC3E}">
        <p14:creationId xmlns:p14="http://schemas.microsoft.com/office/powerpoint/2010/main" val="2136975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2E83B6-8B66-410D-1019-00CEF91CB764}"/>
              </a:ext>
            </a:extLst>
          </p:cNvPr>
          <p:cNvSpPr txBox="1"/>
          <p:nvPr/>
        </p:nvSpPr>
        <p:spPr>
          <a:xfrm>
            <a:off x="278703" y="155174"/>
            <a:ext cx="11764140" cy="6463308"/>
          </a:xfrm>
          <a:prstGeom prst="rect">
            <a:avLst/>
          </a:prstGeom>
          <a:noFill/>
        </p:spPr>
        <p:txBody>
          <a:bodyPr wrap="square" rtlCol="0">
            <a:spAutoFit/>
          </a:bodyPr>
          <a:lstStyle/>
          <a:p>
            <a:r>
              <a:rPr lang="en-IN" b="1" dirty="0"/>
              <a:t>AI Hallucinations and Model Limitations</a:t>
            </a:r>
            <a:br>
              <a:rPr lang="en-IN" dirty="0"/>
            </a:br>
            <a:br>
              <a:rPr lang="en-IN" dirty="0"/>
            </a:br>
            <a:r>
              <a:rPr lang="en-IN" dirty="0"/>
              <a:t>A hallucination occurs when a model generates an answer that appears plausible but is unsupported or incorrect.</a:t>
            </a:r>
          </a:p>
          <a:p>
            <a:endParaRPr lang="en-IN" dirty="0"/>
          </a:p>
          <a:p>
            <a:r>
              <a:rPr lang="en-IN" dirty="0"/>
              <a:t>Example:</a:t>
            </a:r>
          </a:p>
          <a:p>
            <a:r>
              <a:rPr lang="en-IN" dirty="0"/>
              <a:t>You ask:</a:t>
            </a:r>
          </a:p>
          <a:p>
            <a:r>
              <a:rPr lang="en-IN" dirty="0"/>
              <a:t>What is the Azure CLI command to modify this resource?</a:t>
            </a:r>
          </a:p>
          <a:p>
            <a:endParaRPr lang="en-IN" dirty="0"/>
          </a:p>
          <a:p>
            <a:r>
              <a:rPr lang="en-IN" dirty="0"/>
              <a:t>The model may generate a syntactically plausible command that does not actually exist.</a:t>
            </a:r>
          </a:p>
          <a:p>
            <a:endParaRPr lang="en-IN" dirty="0"/>
          </a:p>
          <a:p>
            <a:r>
              <a:rPr lang="en-IN" b="1" dirty="0"/>
              <a:t>Why hallucinations matter in DevOps</a:t>
            </a:r>
          </a:p>
          <a:p>
            <a:r>
              <a:rPr lang="en-IN" dirty="0"/>
              <a:t>An incorrect answer in a chat is inconvenient.</a:t>
            </a:r>
          </a:p>
          <a:p>
            <a:r>
              <a:rPr lang="en-IN" dirty="0"/>
              <a:t>An incorrect command executed against production can cause an outage.</a:t>
            </a:r>
          </a:p>
          <a:p>
            <a:r>
              <a:rPr lang="en-IN" dirty="0"/>
              <a:t>Therefore:</a:t>
            </a:r>
          </a:p>
          <a:p>
            <a:pPr lvl="8"/>
            <a:r>
              <a:rPr lang="en-IN" dirty="0"/>
              <a:t>AI Output</a:t>
            </a:r>
          </a:p>
          <a:p>
            <a:pPr lvl="8"/>
            <a:r>
              <a:rPr lang="en-IN" dirty="0"/>
              <a:t>   ↓</a:t>
            </a:r>
          </a:p>
          <a:p>
            <a:pPr lvl="8"/>
            <a:r>
              <a:rPr lang="en-IN" dirty="0"/>
              <a:t>Validation</a:t>
            </a:r>
          </a:p>
          <a:p>
            <a:pPr lvl="8"/>
            <a:r>
              <a:rPr lang="en-IN" dirty="0"/>
              <a:t>   ↓</a:t>
            </a:r>
          </a:p>
          <a:p>
            <a:pPr lvl="8"/>
            <a:r>
              <a:rPr lang="en-IN" dirty="0"/>
              <a:t>Policy</a:t>
            </a:r>
          </a:p>
          <a:p>
            <a:pPr lvl="8"/>
            <a:r>
              <a:rPr lang="en-IN" dirty="0"/>
              <a:t>   ↓</a:t>
            </a:r>
          </a:p>
          <a:p>
            <a:pPr lvl="8"/>
            <a:r>
              <a:rPr lang="en-IN" dirty="0"/>
              <a:t>Execution</a:t>
            </a:r>
          </a:p>
          <a:p>
            <a:endParaRPr lang="en-IN" dirty="0"/>
          </a:p>
          <a:p>
            <a:endParaRPr lang="en-IN" dirty="0"/>
          </a:p>
        </p:txBody>
      </p:sp>
    </p:spTree>
    <p:extLst>
      <p:ext uri="{BB962C8B-B14F-4D97-AF65-F5344CB8AC3E}">
        <p14:creationId xmlns:p14="http://schemas.microsoft.com/office/powerpoint/2010/main" val="197238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F94DD3-9687-0B1A-893F-EC14486EE531}"/>
              </a:ext>
            </a:extLst>
          </p:cNvPr>
          <p:cNvSpPr txBox="1"/>
          <p:nvPr/>
        </p:nvSpPr>
        <p:spPr>
          <a:xfrm>
            <a:off x="428017" y="817123"/>
            <a:ext cx="11614826" cy="5632311"/>
          </a:xfrm>
          <a:prstGeom prst="rect">
            <a:avLst/>
          </a:prstGeom>
          <a:noFill/>
        </p:spPr>
        <p:txBody>
          <a:bodyPr wrap="square" rtlCol="0">
            <a:spAutoFit/>
          </a:bodyPr>
          <a:lstStyle/>
          <a:p>
            <a:r>
              <a:rPr lang="en-IN" b="1" dirty="0"/>
              <a:t>Common limitations</a:t>
            </a:r>
          </a:p>
          <a:p>
            <a:endParaRPr lang="en-IN" b="1" dirty="0"/>
          </a:p>
          <a:p>
            <a:r>
              <a:rPr lang="en-IN" b="1" dirty="0"/>
              <a:t>Hallucination: </a:t>
            </a:r>
            <a:r>
              <a:rPr lang="en-IN" dirty="0"/>
              <a:t>Incorrect generated information.</a:t>
            </a:r>
          </a:p>
          <a:p>
            <a:endParaRPr lang="en-IN" dirty="0"/>
          </a:p>
          <a:p>
            <a:r>
              <a:rPr lang="en-IN" b="1" dirty="0"/>
              <a:t>Context limitations:</a:t>
            </a:r>
          </a:p>
          <a:p>
            <a:r>
              <a:rPr lang="en-IN" dirty="0"/>
              <a:t>The model may not know your:</a:t>
            </a:r>
          </a:p>
          <a:p>
            <a:pPr lvl="0"/>
            <a:r>
              <a:rPr lang="en-IN" dirty="0"/>
              <a:t>Current infrastructure </a:t>
            </a:r>
          </a:p>
          <a:p>
            <a:pPr lvl="0"/>
            <a:r>
              <a:rPr lang="en-IN" dirty="0"/>
              <a:t>Internal standards </a:t>
            </a:r>
          </a:p>
          <a:p>
            <a:pPr lvl="0"/>
            <a:r>
              <a:rPr lang="en-IN" dirty="0"/>
              <a:t>Latest configuration </a:t>
            </a:r>
          </a:p>
          <a:p>
            <a:pPr lvl="0"/>
            <a:r>
              <a:rPr lang="en-IN" dirty="0"/>
              <a:t>Private APIs </a:t>
            </a:r>
            <a:br>
              <a:rPr lang="en-IN" dirty="0"/>
            </a:br>
            <a:endParaRPr lang="en-IN" dirty="0"/>
          </a:p>
          <a:p>
            <a:r>
              <a:rPr lang="en-IN" b="1" dirty="0"/>
              <a:t>Stale knowledge</a:t>
            </a:r>
          </a:p>
          <a:p>
            <a:r>
              <a:rPr lang="en-IN" dirty="0"/>
              <a:t>The model may not know the latest version of a tool.</a:t>
            </a:r>
            <a:br>
              <a:rPr lang="en-IN" dirty="0"/>
            </a:br>
            <a:endParaRPr lang="en-IN" dirty="0"/>
          </a:p>
          <a:p>
            <a:r>
              <a:rPr lang="en-IN" b="1" dirty="0"/>
              <a:t>Ambiguity</a:t>
            </a:r>
          </a:p>
          <a:p>
            <a:r>
              <a:rPr lang="en-IN" dirty="0"/>
              <a:t>The same symptom can have multiple causes.</a:t>
            </a:r>
            <a:br>
              <a:rPr lang="en-IN" dirty="0"/>
            </a:br>
            <a:endParaRPr lang="en-IN" dirty="0"/>
          </a:p>
          <a:p>
            <a:r>
              <a:rPr lang="en-IN" b="1" dirty="0"/>
              <a:t>Overconfidence</a:t>
            </a:r>
          </a:p>
          <a:p>
            <a:r>
              <a:rPr lang="en-IN" dirty="0"/>
              <a:t>The model may provide a confident answer without sufficient evidence.</a:t>
            </a:r>
          </a:p>
          <a:p>
            <a:endParaRPr lang="en-IN" dirty="0"/>
          </a:p>
        </p:txBody>
      </p:sp>
    </p:spTree>
    <p:extLst>
      <p:ext uri="{BB962C8B-B14F-4D97-AF65-F5344CB8AC3E}">
        <p14:creationId xmlns:p14="http://schemas.microsoft.com/office/powerpoint/2010/main" val="441105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6F99D9-CBE3-9E93-FAB4-91DA58532F14}"/>
              </a:ext>
            </a:extLst>
          </p:cNvPr>
          <p:cNvSpPr txBox="1"/>
          <p:nvPr/>
        </p:nvSpPr>
        <p:spPr>
          <a:xfrm>
            <a:off x="539827" y="58846"/>
            <a:ext cx="10587209" cy="6832640"/>
          </a:xfrm>
          <a:prstGeom prst="rect">
            <a:avLst/>
          </a:prstGeom>
          <a:noFill/>
        </p:spPr>
        <p:txBody>
          <a:bodyPr wrap="square" rtlCol="0">
            <a:spAutoFit/>
          </a:bodyPr>
          <a:lstStyle/>
          <a:p>
            <a:pPr algn="ctr"/>
            <a:r>
              <a:rPr lang="en-IN" b="1" dirty="0"/>
              <a:t>AI Governance and Security</a:t>
            </a:r>
            <a:br>
              <a:rPr lang="en-IN" dirty="0"/>
            </a:br>
            <a:r>
              <a:rPr lang="en-IN" dirty="0"/>
              <a:t>AI governance defines how AI can be used safely inside an organization.</a:t>
            </a:r>
          </a:p>
          <a:p>
            <a:pPr algn="ctr"/>
            <a:r>
              <a:rPr lang="en-IN" sz="1600" b="1" dirty="0"/>
              <a:t>Major areas</a:t>
            </a:r>
          </a:p>
          <a:p>
            <a:endParaRPr lang="en-IN" sz="1600" b="1" dirty="0"/>
          </a:p>
          <a:p>
            <a:r>
              <a:rPr lang="en-IN" sz="1600" b="1" dirty="0"/>
              <a:t>Data governance</a:t>
            </a:r>
          </a:p>
          <a:p>
            <a:r>
              <a:rPr lang="en-IN" sz="1600" dirty="0"/>
              <a:t>Determine:</a:t>
            </a:r>
          </a:p>
          <a:p>
            <a:pPr lvl="0"/>
            <a:r>
              <a:rPr lang="en-IN" sz="1600" dirty="0"/>
              <a:t>What data can be sent to models? </a:t>
            </a:r>
          </a:p>
          <a:p>
            <a:pPr lvl="0"/>
            <a:r>
              <a:rPr lang="en-IN" sz="1600" dirty="0"/>
              <a:t>Can production logs be used? </a:t>
            </a:r>
          </a:p>
          <a:p>
            <a:pPr lvl="0"/>
            <a:r>
              <a:rPr lang="en-IN" sz="1600" dirty="0"/>
              <a:t>Can customer data be processed? </a:t>
            </a:r>
          </a:p>
          <a:p>
            <a:pPr lvl="0"/>
            <a:r>
              <a:rPr lang="en-IN" sz="1600" dirty="0"/>
              <a:t>How long is model interaction data retained?</a:t>
            </a:r>
          </a:p>
          <a:p>
            <a:pPr lvl="0"/>
            <a:endParaRPr lang="en-IN" sz="1600" dirty="0"/>
          </a:p>
          <a:p>
            <a:r>
              <a:rPr lang="en-IN" sz="1600" b="1" dirty="0"/>
              <a:t>Identity</a:t>
            </a:r>
          </a:p>
          <a:p>
            <a:r>
              <a:rPr lang="en-IN" sz="1600" dirty="0"/>
              <a:t>AI agents should use:</a:t>
            </a:r>
          </a:p>
          <a:p>
            <a:r>
              <a:rPr lang="en-IN" sz="1600" dirty="0"/>
              <a:t>Managed Identity</a:t>
            </a:r>
          </a:p>
          <a:p>
            <a:r>
              <a:rPr lang="en-IN" sz="1600" dirty="0"/>
              <a:t>Service Principal</a:t>
            </a:r>
          </a:p>
          <a:p>
            <a:r>
              <a:rPr lang="en-IN" sz="1600" dirty="0"/>
              <a:t>Workload Identity</a:t>
            </a:r>
          </a:p>
          <a:p>
            <a:r>
              <a:rPr lang="en-IN" sz="1600" dirty="0"/>
              <a:t>Short-lived credentials</a:t>
            </a:r>
          </a:p>
          <a:p>
            <a:r>
              <a:rPr lang="en-IN" sz="1600" dirty="0"/>
              <a:t>rather than shared administrator credentials.</a:t>
            </a:r>
          </a:p>
          <a:p>
            <a:endParaRPr lang="en-IN" sz="1600" dirty="0"/>
          </a:p>
          <a:p>
            <a:r>
              <a:rPr lang="en-IN" sz="1600" b="1" dirty="0"/>
              <a:t>Access control</a:t>
            </a:r>
          </a:p>
          <a:p>
            <a:r>
              <a:rPr lang="en-IN" sz="1600" dirty="0"/>
              <a:t>Use:</a:t>
            </a:r>
          </a:p>
          <a:p>
            <a:r>
              <a:rPr lang="en-IN" sz="1600" dirty="0"/>
              <a:t>RBAC</a:t>
            </a:r>
          </a:p>
          <a:p>
            <a:r>
              <a:rPr lang="en-IN" sz="1600" dirty="0"/>
              <a:t>Least privilege</a:t>
            </a:r>
          </a:p>
          <a:p>
            <a:r>
              <a:rPr lang="en-IN" sz="1600" dirty="0"/>
              <a:t>Tool allowlists</a:t>
            </a:r>
          </a:p>
          <a:p>
            <a:r>
              <a:rPr lang="en-IN" sz="1600" dirty="0"/>
              <a:t>Network restrictions</a:t>
            </a:r>
          </a:p>
          <a:p>
            <a:r>
              <a:rPr lang="en-IN" sz="1600" dirty="0"/>
              <a:t>Environment boundaries</a:t>
            </a:r>
          </a:p>
          <a:p>
            <a:endParaRPr lang="en-IN" dirty="0"/>
          </a:p>
        </p:txBody>
      </p:sp>
      <p:sp>
        <p:nvSpPr>
          <p:cNvPr id="3" name="TextBox 2">
            <a:extLst>
              <a:ext uri="{FF2B5EF4-FFF2-40B4-BE49-F238E27FC236}">
                <a16:creationId xmlns:a16="http://schemas.microsoft.com/office/drawing/2014/main" id="{BFD910FF-F8A8-172F-CD8E-4635F26D4E83}"/>
              </a:ext>
            </a:extLst>
          </p:cNvPr>
          <p:cNvSpPr txBox="1"/>
          <p:nvPr/>
        </p:nvSpPr>
        <p:spPr>
          <a:xfrm>
            <a:off x="6272270" y="1046602"/>
            <a:ext cx="3551165" cy="5847755"/>
          </a:xfrm>
          <a:prstGeom prst="rect">
            <a:avLst/>
          </a:prstGeom>
          <a:noFill/>
        </p:spPr>
        <p:txBody>
          <a:bodyPr wrap="none" rtlCol="0">
            <a:spAutoFit/>
          </a:bodyPr>
          <a:lstStyle/>
          <a:p>
            <a:r>
              <a:rPr lang="en-IN" sz="1600" b="1" dirty="0"/>
              <a:t>Auditability</a:t>
            </a:r>
          </a:p>
          <a:p>
            <a:r>
              <a:rPr lang="en-IN" sz="1600" dirty="0"/>
              <a:t>Every important AI action should record:</a:t>
            </a:r>
          </a:p>
          <a:p>
            <a:r>
              <a:rPr lang="en-IN" sz="1600" dirty="0"/>
              <a:t>Who/what initiated it</a:t>
            </a:r>
          </a:p>
          <a:p>
            <a:r>
              <a:rPr lang="en-IN" sz="1600" dirty="0"/>
              <a:t>Model/version</a:t>
            </a:r>
          </a:p>
          <a:p>
            <a:r>
              <a:rPr lang="en-IN" sz="1600" dirty="0"/>
              <a:t>Input/context</a:t>
            </a:r>
          </a:p>
          <a:p>
            <a:r>
              <a:rPr lang="en-IN" sz="1600" dirty="0"/>
              <a:t>Decision</a:t>
            </a:r>
          </a:p>
          <a:p>
            <a:r>
              <a:rPr lang="en-IN" sz="1600" dirty="0"/>
              <a:t>Tool invoked</a:t>
            </a:r>
          </a:p>
          <a:p>
            <a:r>
              <a:rPr lang="en-IN" sz="1600" dirty="0"/>
              <a:t>Action</a:t>
            </a:r>
          </a:p>
          <a:p>
            <a:r>
              <a:rPr lang="en-IN" sz="1600" dirty="0"/>
              <a:t>Result</a:t>
            </a:r>
          </a:p>
          <a:p>
            <a:r>
              <a:rPr lang="en-IN" sz="1600" dirty="0"/>
              <a:t>Timestamp</a:t>
            </a:r>
            <a:br>
              <a:rPr lang="en-IN" sz="1600" dirty="0"/>
            </a:br>
            <a:br>
              <a:rPr lang="en-IN" sz="1600" dirty="0"/>
            </a:br>
            <a:r>
              <a:rPr lang="en-IN" sz="1600" b="1" dirty="0"/>
              <a:t>Model governance</a:t>
            </a:r>
          </a:p>
          <a:p>
            <a:r>
              <a:rPr lang="en-IN" sz="1600" dirty="0"/>
              <a:t>Track:</a:t>
            </a:r>
          </a:p>
          <a:p>
            <a:pPr lvl="0"/>
            <a:r>
              <a:rPr lang="en-IN" sz="1600" dirty="0"/>
              <a:t>Model version </a:t>
            </a:r>
          </a:p>
          <a:p>
            <a:pPr lvl="0"/>
            <a:r>
              <a:rPr lang="en-IN" sz="1600" dirty="0"/>
              <a:t>Prompt version </a:t>
            </a:r>
          </a:p>
          <a:p>
            <a:pPr lvl="0"/>
            <a:r>
              <a:rPr lang="en-IN" sz="1600" dirty="0"/>
              <a:t>Evaluation results </a:t>
            </a:r>
          </a:p>
          <a:p>
            <a:pPr lvl="0"/>
            <a:r>
              <a:rPr lang="en-IN" sz="1600" dirty="0"/>
              <a:t>Accuracy </a:t>
            </a:r>
          </a:p>
          <a:p>
            <a:pPr lvl="0"/>
            <a:r>
              <a:rPr lang="en-IN" sz="1600" dirty="0"/>
              <a:t>Drift </a:t>
            </a:r>
          </a:p>
          <a:p>
            <a:pPr lvl="0"/>
            <a:r>
              <a:rPr lang="en-IN" sz="1600" dirty="0"/>
              <a:t>Cost </a:t>
            </a:r>
          </a:p>
          <a:p>
            <a:pPr lvl="0"/>
            <a:r>
              <a:rPr lang="en-IN" sz="1600" dirty="0"/>
              <a:t>Latency </a:t>
            </a:r>
          </a:p>
          <a:p>
            <a:pPr lvl="0"/>
            <a:r>
              <a:rPr lang="en-IN" sz="1600" dirty="0"/>
              <a:t>Security incidents</a:t>
            </a:r>
          </a:p>
          <a:p>
            <a:endParaRPr lang="en-IN" dirty="0"/>
          </a:p>
          <a:p>
            <a:endParaRPr lang="en-IN" dirty="0"/>
          </a:p>
        </p:txBody>
      </p:sp>
    </p:spTree>
    <p:extLst>
      <p:ext uri="{BB962C8B-B14F-4D97-AF65-F5344CB8AC3E}">
        <p14:creationId xmlns:p14="http://schemas.microsoft.com/office/powerpoint/2010/main" val="3880534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4240</TotalTime>
  <Words>2378</Words>
  <Application>Microsoft Office PowerPoint</Application>
  <PresentationFormat>Widescreen</PresentationFormat>
  <Paragraphs>354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Foundations of AI in DevOps</vt:lpstr>
      <vt:lpstr>PowerPoint Presentation</vt:lpstr>
      <vt:lpstr>Evolution from Traditional DevOps to AI-Augmented DevOps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12</cp:revision>
  <dcterms:created xsi:type="dcterms:W3CDTF">2026-10-02T08:48:41Z</dcterms:created>
  <dcterms:modified xsi:type="dcterms:W3CDTF">2026-10-07T03:51:10Z</dcterms:modified>
</cp:coreProperties>
</file>