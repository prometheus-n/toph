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8" r:id="rId13"/>
    <p:sldId id="269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21C79C-B1AB-42DE-B46D-E006A71ED782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33B0D0-8E7F-4128-AE5F-51C323C427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336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0A92-39B4-9682-0D44-105E49D22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AC3DA7-1859-E6D9-E7AA-1F0E1C97DD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CC450-49B1-5193-4E40-274260D4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C1C79-F3E2-4FC1-A71E-2308E4AA2726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72967-270D-78A7-5049-19EFBA2D2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6F8F0-1593-493E-117C-941FD221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1A44E-A41E-4B8E-92F8-CCFCFAFE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686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D31-F5E3-74DB-8444-F10B746BC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D2513-A2BB-1A7F-21EF-93665C22B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6F55F-459D-B034-C166-D14E1D4E9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C1C79-F3E2-4FC1-A71E-2308E4AA2726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81C53-63C0-0F7C-86F2-DA5160BC5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3BCFB-0234-27AE-E497-A3E6B977B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1A44E-A41E-4B8E-92F8-CCFCFAFE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860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79DA9-323B-23DE-5316-1A04080E5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55248-DE64-0CD9-97A3-2234AAA86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10929-27A2-3DEB-EEE9-228EB60CA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C1C79-F3E2-4FC1-A71E-2308E4AA2726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02F96-7EE4-FFE9-CF90-604C0D599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4B0A0-DB37-DB0C-B4F0-81372852D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1A44E-A41E-4B8E-92F8-CCFCFAFE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370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7BFF0-DBA9-4E7C-49C1-821A3178B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F0E68-7121-7A93-8971-A0F59288EC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6FED22-84D0-C804-A179-526A1A35DC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9283DF-8FC5-A38A-06AE-1C8DFDC76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C1C79-F3E2-4FC1-A71E-2308E4AA2726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7D01C1-A2F3-C715-6911-D38B11AB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F0DC7B-FE88-E242-F34B-184BF22D4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1A44E-A41E-4B8E-92F8-CCFCFAFE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512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B3D47-F3DF-CA6D-9591-C74366A8A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B11C36-2D6B-6219-E9D4-6DD9EA24F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F231EB-5231-80B2-6377-9EAA22BD4F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8C3D30-6027-3019-FF0E-27F103AF65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8F9C7E-1271-CA22-61BD-93DA558C2B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DCA3F1-0FCB-80FF-7146-6318B416B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C1C79-F3E2-4FC1-A71E-2308E4AA2726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06BD72-942E-3830-A6F2-D744786E7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076F32-3350-7538-E318-97B61105E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1A44E-A41E-4B8E-92F8-CCFCFAFE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52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5B1AA-1AE5-A9C8-1A09-9C3316DED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96FAE0-AB7C-17A7-B53B-6CACEACB0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C1C79-F3E2-4FC1-A71E-2308E4AA2726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D374E8-D358-5B96-AF74-4D7932C13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EE5E80-A945-64E8-F9F2-E2D81D585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1A44E-A41E-4B8E-92F8-CCFCFAFE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363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5BD08B-A285-F7FB-E083-FA630B468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C1C79-F3E2-4FC1-A71E-2308E4AA2726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253253-DEF8-49EF-36F7-BC8F8EB70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55D75-3C7D-6F21-FF36-E2C3EEEA0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1A44E-A41E-4B8E-92F8-CCFCFAFE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763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1AB36-86A3-698E-D66F-5CE15F31F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58632-364D-493B-91AC-BFECECA65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2846AF-3EF4-7728-8234-5495AFE58A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CCF51D-1492-E3DD-C47D-CD4CAF79B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C1C79-F3E2-4FC1-A71E-2308E4AA2726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252DF-4398-80F5-31DB-BAA21342A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70D878-147C-0D54-8E3E-B208A5193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1A44E-A41E-4B8E-92F8-CCFCFAFE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121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1BE7-941F-FEC6-46D5-39C857E21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5D91B8-AADB-D450-7122-50E54BE7AA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3F9768-1841-898A-C54B-AF97C115F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848BB2-E61B-6188-7D50-C2062C3CB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C1C79-F3E2-4FC1-A71E-2308E4AA2726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03D64-220F-4F0B-5820-E60D4E8C9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990AA3-0BD8-6FDD-8433-4DA75746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1A44E-A41E-4B8E-92F8-CCFCFAFE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270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8E6F2-A2D7-C258-FD3D-639F1A141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A41C6A-129F-7FA4-B425-3B90C0F15C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F1D02-D55F-4DD5-44A4-37549A784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C1C79-F3E2-4FC1-A71E-2308E4AA2726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D4C94-01D6-C72C-E907-467A5DD85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9F0DB-11DB-DB4C-B85F-EAFFDBA71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1A44E-A41E-4B8E-92F8-CCFCFAFE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437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579036-1B59-7361-0A73-BAB21AC429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2A477-DD07-9935-ACA9-224C534BA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0CDD1-DB6E-ED87-9109-7D04E63F3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C1C79-F3E2-4FC1-A71E-2308E4AA2726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BD718-6063-E3E8-34C5-D0731CCC6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0DD80-B291-7BE0-E3D7-56A7923BB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1A44E-A41E-4B8E-92F8-CCFCFAFE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170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5A5059-8FDD-E7F3-4E43-7E9F0C765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3CBED8-35FD-11DD-25A9-E75C7E74C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AEA56-5665-B178-41E2-D51093BD6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C1C79-F3E2-4FC1-A71E-2308E4AA2726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663C5-A76E-52C5-75F7-3F60143162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B9E78-02C8-8B5C-6AD4-CD0DCB67D8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1A44E-A41E-4B8E-92F8-CCFCFAFE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855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C1CFB7-A7C4-DE29-BAC7-0530B400F85C}"/>
              </a:ext>
            </a:extLst>
          </p:cNvPr>
          <p:cNvSpPr txBox="1"/>
          <p:nvPr/>
        </p:nvSpPr>
        <p:spPr>
          <a:xfrm>
            <a:off x="2514600" y="1447800"/>
            <a:ext cx="757059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6600" b="1" dirty="0"/>
              <a:t>AI assisted Terraform</a:t>
            </a:r>
          </a:p>
        </p:txBody>
      </p:sp>
    </p:spTree>
    <p:extLst>
      <p:ext uri="{BB962C8B-B14F-4D97-AF65-F5344CB8AC3E}">
        <p14:creationId xmlns:p14="http://schemas.microsoft.com/office/powerpoint/2010/main" val="2581645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F3C9D2-64C3-1D60-59C6-56C1798BFAE6}"/>
              </a:ext>
            </a:extLst>
          </p:cNvPr>
          <p:cNvSpPr txBox="1"/>
          <p:nvPr/>
        </p:nvSpPr>
        <p:spPr>
          <a:xfrm>
            <a:off x="1023256" y="326572"/>
            <a:ext cx="10101943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What Is Infrastructure as Code (</a:t>
            </a:r>
            <a:r>
              <a:rPr lang="en-IN" sz="2400" b="1" dirty="0" err="1"/>
              <a:t>IaC</a:t>
            </a:r>
            <a:r>
              <a:rPr lang="en-IN" sz="2400" b="1" dirty="0"/>
              <a:t>)?</a:t>
            </a:r>
          </a:p>
          <a:p>
            <a:r>
              <a:rPr lang="en-IN" sz="2400" dirty="0"/>
              <a:t>Infrastructure as Code is the practice of provisioning and managing infrastructure using machine-readable configuration files.</a:t>
            </a:r>
          </a:p>
          <a:p>
            <a:r>
              <a:rPr lang="en-IN" sz="2400" dirty="0"/>
              <a:t>There are two primary approaches:</a:t>
            </a:r>
          </a:p>
          <a:p>
            <a:endParaRPr lang="en-IN" sz="2400" dirty="0"/>
          </a:p>
          <a:p>
            <a:r>
              <a:rPr lang="en-IN" sz="2400" b="1" dirty="0"/>
              <a:t>Declarative approach:</a:t>
            </a:r>
            <a:r>
              <a:rPr lang="en-IN" sz="2400" dirty="0"/>
              <a:t> Define the desired infrastructure, and the tool determines how to achieve it.</a:t>
            </a:r>
          </a:p>
          <a:p>
            <a:endParaRPr lang="en-IN" sz="2400" dirty="0"/>
          </a:p>
          <a:p>
            <a:r>
              <a:rPr lang="en-IN" sz="2400" b="1" dirty="0"/>
              <a:t>Imperative approach:</a:t>
            </a:r>
            <a:r>
              <a:rPr lang="en-IN" sz="2400" dirty="0"/>
              <a:t> Specify the individual steps required to create the infrastructure.</a:t>
            </a:r>
          </a:p>
          <a:p>
            <a:r>
              <a:rPr lang="en-IN" sz="2400" dirty="0"/>
              <a:t>Terraform primarily follows the declarative approach.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1728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CBCF90-C733-A1C0-119A-307C755481F3}"/>
              </a:ext>
            </a:extLst>
          </p:cNvPr>
          <p:cNvSpPr txBox="1"/>
          <p:nvPr/>
        </p:nvSpPr>
        <p:spPr>
          <a:xfrm>
            <a:off x="468086" y="0"/>
            <a:ext cx="11255828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Introduction to Terraform</a:t>
            </a:r>
          </a:p>
          <a:p>
            <a:pPr algn="ctr"/>
            <a:endParaRPr lang="en-IN" b="1" dirty="0"/>
          </a:p>
          <a:p>
            <a:r>
              <a:rPr lang="en-IN" sz="1600" b="1" dirty="0"/>
              <a:t>Terraform</a:t>
            </a:r>
            <a:r>
              <a:rPr lang="en-IN" sz="1600" dirty="0"/>
              <a:t> is an open-source Infrastructure as Code (</a:t>
            </a:r>
            <a:r>
              <a:rPr lang="en-IN" sz="1600" dirty="0" err="1"/>
              <a:t>IaC</a:t>
            </a:r>
            <a:r>
              <a:rPr lang="en-IN" sz="1600" dirty="0"/>
              <a:t>) tool developed by </a:t>
            </a:r>
            <a:r>
              <a:rPr lang="en-IN" sz="1600" dirty="0" err="1"/>
              <a:t>HashiCorp</a:t>
            </a:r>
            <a:r>
              <a:rPr lang="en-IN" sz="1600" dirty="0"/>
              <a:t>. It allows engineers to provision, manage, and maintain cloud infrastructure using configuration files rather than manually creating resources.</a:t>
            </a:r>
          </a:p>
          <a:p>
            <a:endParaRPr lang="en-IN" sz="1600" dirty="0"/>
          </a:p>
          <a:p>
            <a:r>
              <a:rPr lang="en-IN" sz="1600" dirty="0"/>
              <a:t>Terraform supports multiple cloud providers, including AWS, Azure and Google Cloud.</a:t>
            </a:r>
          </a:p>
          <a:p>
            <a:endParaRPr lang="en-IN" sz="1600" dirty="0"/>
          </a:p>
          <a:p>
            <a:r>
              <a:rPr lang="en-IN" sz="1600" b="1" dirty="0"/>
              <a:t>Key benefits:</a:t>
            </a:r>
            <a:endParaRPr lang="en-IN" sz="1600" dirty="0"/>
          </a:p>
          <a:p>
            <a:pPr lvl="0"/>
            <a:r>
              <a:rPr lang="en-IN" sz="1600" dirty="0"/>
              <a:t>Infrastructure automation </a:t>
            </a:r>
          </a:p>
          <a:p>
            <a:pPr lvl="0"/>
            <a:r>
              <a:rPr lang="en-IN" sz="1600" dirty="0"/>
              <a:t>Consistent and repeatable deployments </a:t>
            </a:r>
          </a:p>
          <a:p>
            <a:pPr lvl="0"/>
            <a:r>
              <a:rPr lang="en-IN" sz="1600" dirty="0"/>
              <a:t>Reduced manual errors </a:t>
            </a:r>
          </a:p>
          <a:p>
            <a:pPr lvl="0"/>
            <a:r>
              <a:rPr lang="en-IN" sz="1600" dirty="0"/>
              <a:t>Version-controlled infrastructure </a:t>
            </a:r>
          </a:p>
          <a:p>
            <a:pPr lvl="0"/>
            <a:r>
              <a:rPr lang="en-IN" sz="1600" dirty="0"/>
              <a:t>Multi-cloud support </a:t>
            </a:r>
          </a:p>
          <a:p>
            <a:pPr lvl="0"/>
            <a:r>
              <a:rPr lang="en-IN" sz="1600" dirty="0"/>
              <a:t>Integration with CI/CD pipelines </a:t>
            </a:r>
          </a:p>
          <a:p>
            <a:pPr lvl="0"/>
            <a:endParaRPr lang="en-IN" sz="1600" dirty="0"/>
          </a:p>
          <a:p>
            <a:r>
              <a:rPr lang="en-IN" sz="1600" b="1" dirty="0"/>
              <a:t>Example:</a:t>
            </a:r>
            <a:r>
              <a:rPr lang="en-IN" sz="1600" dirty="0"/>
              <a:t> Instead of manually creating an AWS VPC, subnet and EC2 instance through the AWS Management Console, we can define these resources in Terraform configuration files.</a:t>
            </a:r>
          </a:p>
          <a:p>
            <a:br>
              <a:rPr lang="en-IN" sz="1600" dirty="0"/>
            </a:br>
            <a:r>
              <a:rPr lang="en-IN" sz="1600" dirty="0"/>
              <a:t>Terraform primarily follows the declarative approach.</a:t>
            </a:r>
          </a:p>
          <a:p>
            <a:pPr lvl="6"/>
            <a:r>
              <a:rPr lang="en-IN" sz="1600" dirty="0"/>
              <a:t>For example:</a:t>
            </a:r>
          </a:p>
          <a:p>
            <a:pPr lvl="6"/>
            <a:r>
              <a:rPr lang="en-IN" sz="1600" dirty="0"/>
              <a:t>resource "</a:t>
            </a:r>
            <a:r>
              <a:rPr lang="en-IN" sz="1600" dirty="0" err="1"/>
              <a:t>aws_vpc</a:t>
            </a:r>
            <a:r>
              <a:rPr lang="en-IN" sz="1600" dirty="0"/>
              <a:t>" "demo" {</a:t>
            </a:r>
          </a:p>
          <a:p>
            <a:pPr lvl="6"/>
            <a:r>
              <a:rPr lang="en-IN" sz="1600" dirty="0"/>
              <a:t>  </a:t>
            </a:r>
            <a:r>
              <a:rPr lang="en-IN" sz="1600" dirty="0" err="1"/>
              <a:t>cidr_block</a:t>
            </a:r>
            <a:r>
              <a:rPr lang="en-IN" sz="1600" dirty="0"/>
              <a:t> = "10.0.0.0/16"</a:t>
            </a:r>
          </a:p>
          <a:p>
            <a:pPr lvl="6"/>
            <a:r>
              <a:rPr lang="en-IN" sz="1600" dirty="0"/>
              <a:t>}</a:t>
            </a:r>
          </a:p>
          <a:p>
            <a:r>
              <a:rPr lang="en-IN" sz="1600" dirty="0"/>
              <a:t>This configuration instructs Terraform to create an AWS VPC with the specified CIDR block.</a:t>
            </a:r>
          </a:p>
          <a:p>
            <a:r>
              <a:rPr lang="en-IN" sz="1600" dirty="0"/>
              <a:t>Terraform determines which AWS API operations are required.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6065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B74EB7-360E-F657-DA8C-45EE3A20820F}"/>
              </a:ext>
            </a:extLst>
          </p:cNvPr>
          <p:cNvSpPr txBox="1"/>
          <p:nvPr/>
        </p:nvSpPr>
        <p:spPr>
          <a:xfrm>
            <a:off x="598714" y="0"/>
            <a:ext cx="11244943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Terraform Architecture</a:t>
            </a:r>
          </a:p>
          <a:p>
            <a:r>
              <a:rPr lang="en-IN" dirty="0"/>
              <a:t>Terraform consists of several important components.</a:t>
            </a:r>
          </a:p>
          <a:p>
            <a:r>
              <a:rPr lang="en-IN" b="1" dirty="0"/>
              <a:t>1. Terraform Core</a:t>
            </a:r>
            <a:endParaRPr lang="en-IN" dirty="0"/>
          </a:p>
          <a:p>
            <a:r>
              <a:rPr lang="en-IN" dirty="0"/>
              <a:t>Terraform Core is responsible for: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Reading configuration files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Building dependency graphs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Generating execution plans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Managing infrastructure state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Coordinating resource creation and modification</a:t>
            </a:r>
          </a:p>
          <a:p>
            <a:pPr lvl="0"/>
            <a:r>
              <a:rPr lang="en-IN" dirty="0"/>
              <a:t> </a:t>
            </a:r>
          </a:p>
          <a:p>
            <a:r>
              <a:rPr lang="en-IN" b="1" dirty="0"/>
              <a:t>2. Providers</a:t>
            </a:r>
            <a:endParaRPr lang="en-IN" dirty="0"/>
          </a:p>
          <a:p>
            <a:r>
              <a:rPr lang="en-IN" dirty="0"/>
              <a:t>Providers allow Terraform to communicate with external platforms and services.</a:t>
            </a:r>
          </a:p>
          <a:p>
            <a:pPr lvl="5"/>
            <a:r>
              <a:rPr lang="en-IN" dirty="0"/>
              <a:t>Examples include:</a:t>
            </a:r>
          </a:p>
          <a:p>
            <a:pPr marL="2571750" lvl="5" indent="-285750">
              <a:buFont typeface="Arial" panose="020B0604020202020204" pitchFamily="34" charset="0"/>
              <a:buChar char="•"/>
            </a:pPr>
            <a:r>
              <a:rPr lang="en-IN" dirty="0"/>
              <a:t>AWS Provider </a:t>
            </a:r>
          </a:p>
          <a:p>
            <a:pPr marL="2571750" lvl="5" indent="-285750">
              <a:buFont typeface="Arial" panose="020B0604020202020204" pitchFamily="34" charset="0"/>
              <a:buChar char="•"/>
            </a:pPr>
            <a:r>
              <a:rPr lang="en-IN" dirty="0" err="1"/>
              <a:t>AzureRM</a:t>
            </a:r>
            <a:r>
              <a:rPr lang="en-IN" dirty="0"/>
              <a:t> Provider </a:t>
            </a:r>
          </a:p>
          <a:p>
            <a:pPr marL="2571750" lvl="5" indent="-285750">
              <a:buFont typeface="Arial" panose="020B0604020202020204" pitchFamily="34" charset="0"/>
              <a:buChar char="•"/>
            </a:pPr>
            <a:r>
              <a:rPr lang="en-IN" dirty="0"/>
              <a:t>Google Cloud Provider </a:t>
            </a:r>
          </a:p>
          <a:p>
            <a:pPr marL="2571750" lvl="5" indent="-285750">
              <a:buFont typeface="Arial" panose="020B0604020202020204" pitchFamily="34" charset="0"/>
              <a:buChar char="•"/>
            </a:pPr>
            <a:r>
              <a:rPr lang="en-IN" dirty="0"/>
              <a:t>Kubernetes Provider </a:t>
            </a:r>
          </a:p>
          <a:p>
            <a:r>
              <a:rPr lang="en-IN" b="1" dirty="0"/>
              <a:t>3. Resources</a:t>
            </a:r>
            <a:endParaRPr lang="en-IN" dirty="0"/>
          </a:p>
          <a:p>
            <a:r>
              <a:rPr lang="en-IN" dirty="0"/>
              <a:t>Resources represent infrastructure components that Terraform manages.</a:t>
            </a:r>
          </a:p>
          <a:p>
            <a:pPr lvl="5"/>
            <a:r>
              <a:rPr lang="en-IN" dirty="0"/>
              <a:t>AWS examples include:</a:t>
            </a:r>
          </a:p>
          <a:p>
            <a:pPr marL="2571750" lvl="5" indent="-285750">
              <a:buFont typeface="Arial" panose="020B0604020202020204" pitchFamily="34" charset="0"/>
              <a:buChar char="•"/>
            </a:pPr>
            <a:r>
              <a:rPr lang="en-IN" dirty="0" err="1"/>
              <a:t>aws_instance</a:t>
            </a:r>
            <a:r>
              <a:rPr lang="en-IN" dirty="0"/>
              <a:t> </a:t>
            </a:r>
          </a:p>
          <a:p>
            <a:pPr marL="2571750" lvl="5" indent="-285750">
              <a:buFont typeface="Arial" panose="020B0604020202020204" pitchFamily="34" charset="0"/>
              <a:buChar char="•"/>
            </a:pPr>
            <a:r>
              <a:rPr lang="en-IN" dirty="0"/>
              <a:t>aws_s3_bucket </a:t>
            </a:r>
          </a:p>
          <a:p>
            <a:r>
              <a:rPr lang="en-IN" b="1" dirty="0"/>
              <a:t>4. State</a:t>
            </a:r>
            <a:endParaRPr lang="en-IN" dirty="0"/>
          </a:p>
          <a:p>
            <a:r>
              <a:rPr lang="en-IN" dirty="0"/>
              <a:t>Terraform maintains a state file to track the infrastructure it manages.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809453-EE10-B89F-29EC-A366AB3A0FC5}"/>
              </a:ext>
            </a:extLst>
          </p:cNvPr>
          <p:cNvSpPr txBox="1"/>
          <p:nvPr/>
        </p:nvSpPr>
        <p:spPr>
          <a:xfrm>
            <a:off x="8806543" y="2610683"/>
            <a:ext cx="314597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Architecture flow:</a:t>
            </a:r>
            <a:endParaRPr lang="en-IN" dirty="0"/>
          </a:p>
          <a:p>
            <a:r>
              <a:rPr lang="en-IN" dirty="0"/>
              <a:t>Terraform Configuration</a:t>
            </a:r>
          </a:p>
          <a:p>
            <a:r>
              <a:rPr lang="en-IN" dirty="0"/>
              <a:t>         |</a:t>
            </a:r>
          </a:p>
          <a:p>
            <a:r>
              <a:rPr lang="en-IN" dirty="0"/>
              <a:t>         v</a:t>
            </a:r>
          </a:p>
          <a:p>
            <a:r>
              <a:rPr lang="en-IN" dirty="0"/>
              <a:t>    Terraform Core</a:t>
            </a:r>
          </a:p>
          <a:p>
            <a:r>
              <a:rPr lang="en-IN" dirty="0"/>
              <a:t>         |</a:t>
            </a:r>
          </a:p>
          <a:p>
            <a:r>
              <a:rPr lang="en-IN" dirty="0"/>
              <a:t>         v</a:t>
            </a:r>
          </a:p>
          <a:p>
            <a:r>
              <a:rPr lang="en-IN" dirty="0"/>
              <a:t>     cloud Provider</a:t>
            </a:r>
          </a:p>
          <a:p>
            <a:r>
              <a:rPr lang="en-IN" dirty="0"/>
              <a:t>         |</a:t>
            </a:r>
          </a:p>
          <a:p>
            <a:r>
              <a:rPr lang="en-IN" dirty="0"/>
              <a:t>         v</a:t>
            </a:r>
          </a:p>
          <a:p>
            <a:r>
              <a:rPr lang="en-IN" dirty="0"/>
              <a:t>       Cloud API</a:t>
            </a:r>
          </a:p>
          <a:p>
            <a:r>
              <a:rPr lang="en-IN" dirty="0"/>
              <a:t>         |</a:t>
            </a:r>
          </a:p>
          <a:p>
            <a:r>
              <a:rPr lang="en-IN" dirty="0"/>
              <a:t>         v</a:t>
            </a:r>
          </a:p>
          <a:p>
            <a:r>
              <a:rPr lang="en-IN" dirty="0"/>
              <a:t>  Infrastructure on cloud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8503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AE62B9-51FE-1CD1-AC88-6BB12C7FABC0}"/>
              </a:ext>
            </a:extLst>
          </p:cNvPr>
          <p:cNvSpPr txBox="1"/>
          <p:nvPr/>
        </p:nvSpPr>
        <p:spPr>
          <a:xfrm>
            <a:off x="185057" y="141514"/>
            <a:ext cx="529978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Terraform Project Structure</a:t>
            </a:r>
          </a:p>
          <a:p>
            <a:r>
              <a:rPr lang="en-IN" dirty="0"/>
              <a:t>A typical Terraform project contains the following files:</a:t>
            </a:r>
          </a:p>
          <a:p>
            <a:r>
              <a:rPr lang="en-IN" dirty="0"/>
              <a:t>terraform/</a:t>
            </a:r>
          </a:p>
          <a:p>
            <a:r>
              <a:rPr lang="en-IN" dirty="0"/>
              <a:t>│</a:t>
            </a:r>
          </a:p>
          <a:p>
            <a:r>
              <a:rPr lang="en-IN" dirty="0"/>
              <a:t>├── main.tf</a:t>
            </a:r>
          </a:p>
          <a:p>
            <a:r>
              <a:rPr lang="en-IN" dirty="0"/>
              <a:t>├── provider.tf</a:t>
            </a:r>
          </a:p>
          <a:p>
            <a:r>
              <a:rPr lang="en-IN" dirty="0"/>
              <a:t>├── variables.tf</a:t>
            </a:r>
          </a:p>
          <a:p>
            <a:r>
              <a:rPr lang="en-IN" dirty="0"/>
              <a:t>├── </a:t>
            </a:r>
            <a:r>
              <a:rPr lang="en-IN" dirty="0" err="1"/>
              <a:t>terraform.tfvars</a:t>
            </a:r>
            <a:endParaRPr lang="en-IN" dirty="0"/>
          </a:p>
          <a:p>
            <a:r>
              <a:rPr lang="en-IN" dirty="0"/>
              <a:t>├── outputs.tf</a:t>
            </a:r>
          </a:p>
          <a:p>
            <a:r>
              <a:rPr lang="en-IN" dirty="0"/>
              <a:t>├── versions.tf</a:t>
            </a:r>
          </a:p>
          <a:p>
            <a:r>
              <a:rPr lang="en-IN" dirty="0"/>
              <a:t>└── .</a:t>
            </a:r>
            <a:r>
              <a:rPr lang="en-IN" dirty="0" err="1"/>
              <a:t>gitignore</a:t>
            </a:r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AE6059-FFB1-21EC-935E-7041DCC3D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745858"/>
              </p:ext>
            </p:extLst>
          </p:nvPr>
        </p:nvGraphicFramePr>
        <p:xfrm>
          <a:off x="391885" y="3611364"/>
          <a:ext cx="11364686" cy="3105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82343">
                  <a:extLst>
                    <a:ext uri="{9D8B030D-6E8A-4147-A177-3AD203B41FA5}">
                      <a16:colId xmlns:a16="http://schemas.microsoft.com/office/drawing/2014/main" val="1767255906"/>
                    </a:ext>
                  </a:extLst>
                </a:gridCol>
                <a:gridCol w="5682343">
                  <a:extLst>
                    <a:ext uri="{9D8B030D-6E8A-4147-A177-3AD203B41FA5}">
                      <a16:colId xmlns:a16="http://schemas.microsoft.com/office/drawing/2014/main" val="3797124076"/>
                    </a:ext>
                  </a:extLst>
                </a:gridCol>
              </a:tblGrid>
              <a:tr h="388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2922656"/>
                  </a:ext>
                </a:extLst>
              </a:tr>
              <a:tr h="388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main.tf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Defines infrastructure resources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6406489"/>
                  </a:ext>
                </a:extLst>
              </a:tr>
              <a:tr h="388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provider.tf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Configures cloud providers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4303074"/>
                  </a:ext>
                </a:extLst>
              </a:tr>
              <a:tr h="388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variables.tf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Declares input 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7197209"/>
                  </a:ext>
                </a:extLst>
              </a:tr>
              <a:tr h="388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terraform.tfvars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Supplies variable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9940444"/>
                  </a:ext>
                </a:extLst>
              </a:tr>
              <a:tr h="388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outputs.tf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Defines output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1601865"/>
                  </a:ext>
                </a:extLst>
              </a:tr>
              <a:tr h="388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versions.tf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Specifies Terraform and provider versions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30343"/>
                  </a:ext>
                </a:extLst>
              </a:tr>
              <a:tr h="388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.gitignore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Excludes local state and sensitive files from Git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776208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9EAD155-ADBA-47BF-347C-513F4B0CF8E4}"/>
              </a:ext>
            </a:extLst>
          </p:cNvPr>
          <p:cNvSpPr txBox="1"/>
          <p:nvPr/>
        </p:nvSpPr>
        <p:spPr>
          <a:xfrm>
            <a:off x="5802087" y="14151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File descriptions:</a:t>
            </a:r>
            <a:endParaRPr lang="en-IN" dirty="0"/>
          </a:p>
          <a:p>
            <a:pPr>
              <a:buNone/>
            </a:pPr>
            <a:r>
              <a:rPr lang="en-IN" dirty="0"/>
              <a:t>Terraform reads all </a:t>
            </a:r>
            <a:r>
              <a:rPr lang="en-IN" dirty="0">
                <a:latin typeface="+mn-lt"/>
              </a:rPr>
              <a:t>.</a:t>
            </a:r>
            <a:r>
              <a:rPr lang="en-IN" dirty="0" err="1">
                <a:latin typeface="+mn-lt"/>
              </a:rPr>
              <a:t>tf</a:t>
            </a:r>
            <a:r>
              <a:rPr lang="en-IN" dirty="0"/>
              <a:t> files in the working directory as one configuration.</a:t>
            </a:r>
          </a:p>
          <a:p>
            <a:pPr>
              <a:buNone/>
            </a:pPr>
            <a:r>
              <a:rPr lang="en-IN" dirty="0"/>
              <a:t>File names are conventions rather than strict requirements.</a:t>
            </a:r>
          </a:p>
        </p:txBody>
      </p:sp>
    </p:spTree>
    <p:extLst>
      <p:ext uri="{BB962C8B-B14F-4D97-AF65-F5344CB8AC3E}">
        <p14:creationId xmlns:p14="http://schemas.microsoft.com/office/powerpoint/2010/main" val="3805929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64E895-E9AC-C5C4-CA73-9ECE1ACCCBC5}"/>
              </a:ext>
            </a:extLst>
          </p:cNvPr>
          <p:cNvSpPr txBox="1"/>
          <p:nvPr/>
        </p:nvSpPr>
        <p:spPr>
          <a:xfrm>
            <a:off x="642258" y="335845"/>
            <a:ext cx="1090748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Terraform Providers</a:t>
            </a:r>
          </a:p>
          <a:p>
            <a:r>
              <a:rPr lang="en-IN" dirty="0"/>
              <a:t>Providers are plugins that allow Terraform to interact with cloud platforms and external services.</a:t>
            </a:r>
          </a:p>
          <a:p>
            <a:pPr lvl="7"/>
            <a:r>
              <a:rPr lang="en-IN" dirty="0"/>
              <a:t>Example AWS provider configuration:</a:t>
            </a:r>
          </a:p>
          <a:p>
            <a:pPr lvl="7"/>
            <a:r>
              <a:rPr lang="en-IN" dirty="0"/>
              <a:t>terraform {</a:t>
            </a:r>
          </a:p>
          <a:p>
            <a:pPr lvl="7"/>
            <a:r>
              <a:rPr lang="en-IN" dirty="0"/>
              <a:t>  </a:t>
            </a:r>
            <a:r>
              <a:rPr lang="en-IN" dirty="0" err="1"/>
              <a:t>required_providers</a:t>
            </a:r>
            <a:r>
              <a:rPr lang="en-IN" dirty="0"/>
              <a:t> {</a:t>
            </a:r>
          </a:p>
          <a:p>
            <a:pPr lvl="7"/>
            <a:r>
              <a:rPr lang="en-IN" dirty="0"/>
              <a:t>    </a:t>
            </a:r>
            <a:r>
              <a:rPr lang="en-IN" dirty="0" err="1"/>
              <a:t>aws</a:t>
            </a:r>
            <a:r>
              <a:rPr lang="en-IN" dirty="0"/>
              <a:t> = {</a:t>
            </a:r>
          </a:p>
          <a:p>
            <a:pPr lvl="7"/>
            <a:r>
              <a:rPr lang="en-IN" dirty="0"/>
              <a:t>      source  = "</a:t>
            </a:r>
            <a:r>
              <a:rPr lang="en-IN" dirty="0" err="1"/>
              <a:t>hashicorp</a:t>
            </a:r>
            <a:r>
              <a:rPr lang="en-IN" dirty="0"/>
              <a:t>/</a:t>
            </a:r>
            <a:r>
              <a:rPr lang="en-IN" dirty="0" err="1"/>
              <a:t>aws</a:t>
            </a:r>
            <a:r>
              <a:rPr lang="en-IN" dirty="0"/>
              <a:t>"</a:t>
            </a:r>
          </a:p>
          <a:p>
            <a:pPr lvl="7"/>
            <a:r>
              <a:rPr lang="en-IN" dirty="0"/>
              <a:t>      version = "~&gt; 6.0"</a:t>
            </a:r>
          </a:p>
          <a:p>
            <a:pPr lvl="7"/>
            <a:r>
              <a:rPr lang="en-IN" dirty="0"/>
              <a:t>    }</a:t>
            </a:r>
          </a:p>
          <a:p>
            <a:pPr lvl="7"/>
            <a:r>
              <a:rPr lang="en-IN" dirty="0"/>
              <a:t>  }</a:t>
            </a:r>
          </a:p>
          <a:p>
            <a:pPr lvl="7"/>
            <a:r>
              <a:rPr lang="en-IN" dirty="0"/>
              <a:t>}</a:t>
            </a:r>
          </a:p>
          <a:p>
            <a:pPr lvl="7"/>
            <a:endParaRPr lang="en-IN" dirty="0"/>
          </a:p>
          <a:p>
            <a:pPr lvl="7"/>
            <a:r>
              <a:rPr lang="en-IN" dirty="0"/>
              <a:t>provider "</a:t>
            </a:r>
            <a:r>
              <a:rPr lang="en-IN" dirty="0" err="1"/>
              <a:t>aws</a:t>
            </a:r>
            <a:r>
              <a:rPr lang="en-IN" dirty="0"/>
              <a:t>" {</a:t>
            </a:r>
          </a:p>
          <a:p>
            <a:pPr lvl="7"/>
            <a:r>
              <a:rPr lang="en-IN" dirty="0"/>
              <a:t>  region = "ap-south-1"</a:t>
            </a:r>
          </a:p>
          <a:p>
            <a:pPr lvl="7"/>
            <a:r>
              <a:rPr lang="en-IN" dirty="0"/>
              <a:t>}</a:t>
            </a:r>
          </a:p>
          <a:p>
            <a:r>
              <a:rPr lang="en-IN" dirty="0"/>
              <a:t>In this example:</a:t>
            </a:r>
          </a:p>
          <a:p>
            <a:pPr lvl="0"/>
            <a:r>
              <a:rPr lang="en-IN" dirty="0" err="1"/>
              <a:t>required_providers</a:t>
            </a:r>
            <a:r>
              <a:rPr lang="en-IN" dirty="0"/>
              <a:t> declares the provider dependency. </a:t>
            </a:r>
          </a:p>
          <a:p>
            <a:pPr lvl="0"/>
            <a:r>
              <a:rPr lang="en-IN" dirty="0"/>
              <a:t>source identifies the provider. </a:t>
            </a:r>
          </a:p>
          <a:p>
            <a:pPr lvl="0"/>
            <a:r>
              <a:rPr lang="en-IN" dirty="0"/>
              <a:t>version defines the permitted provider versions. </a:t>
            </a:r>
          </a:p>
          <a:p>
            <a:pPr lvl="0"/>
            <a:r>
              <a:rPr lang="en-IN" dirty="0"/>
              <a:t>region specifies the AWS deployment region. </a:t>
            </a:r>
          </a:p>
          <a:p>
            <a:r>
              <a:rPr lang="en-IN" dirty="0"/>
              <a:t>The provider uses your configured AWS authentication mechanism.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758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1C7FB0-9F88-8800-92F1-34239619D6C4}"/>
              </a:ext>
            </a:extLst>
          </p:cNvPr>
          <p:cNvSpPr txBox="1"/>
          <p:nvPr/>
        </p:nvSpPr>
        <p:spPr>
          <a:xfrm>
            <a:off x="435428" y="152399"/>
            <a:ext cx="11560629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Terraform Resources</a:t>
            </a:r>
          </a:p>
          <a:p>
            <a:r>
              <a:rPr lang="en-IN" dirty="0"/>
              <a:t>Resources are the fundamental building blocks of Terraform.</a:t>
            </a:r>
          </a:p>
          <a:p>
            <a:r>
              <a:rPr lang="en-IN" dirty="0"/>
              <a:t>They represent infrastructure objects that Terraform creates and manages.</a:t>
            </a:r>
          </a:p>
          <a:p>
            <a:pPr lvl="7"/>
            <a:r>
              <a:rPr lang="en-IN" b="1" dirty="0"/>
              <a:t>Example: Creating an AWS VPC</a:t>
            </a:r>
            <a:endParaRPr lang="en-IN" dirty="0"/>
          </a:p>
          <a:p>
            <a:pPr lvl="7"/>
            <a:r>
              <a:rPr lang="en-IN" dirty="0"/>
              <a:t>resource "</a:t>
            </a:r>
            <a:r>
              <a:rPr lang="en-IN" dirty="0" err="1"/>
              <a:t>aws_vpc</a:t>
            </a:r>
            <a:r>
              <a:rPr lang="en-IN" dirty="0"/>
              <a:t>" "demo" {</a:t>
            </a:r>
          </a:p>
          <a:p>
            <a:pPr lvl="7"/>
            <a:r>
              <a:rPr lang="en-IN" dirty="0"/>
              <a:t>  </a:t>
            </a:r>
            <a:r>
              <a:rPr lang="en-IN" dirty="0" err="1"/>
              <a:t>cidr_block</a:t>
            </a:r>
            <a:r>
              <a:rPr lang="en-IN" dirty="0"/>
              <a:t> = "10.0.0.0/16"</a:t>
            </a:r>
          </a:p>
          <a:p>
            <a:pPr lvl="7"/>
            <a:endParaRPr lang="en-IN" dirty="0"/>
          </a:p>
          <a:p>
            <a:pPr lvl="7"/>
            <a:r>
              <a:rPr lang="en-IN" dirty="0"/>
              <a:t>  tags = {</a:t>
            </a:r>
          </a:p>
          <a:p>
            <a:pPr lvl="7"/>
            <a:r>
              <a:rPr lang="en-IN" dirty="0"/>
              <a:t>    Name = "terraform-training-</a:t>
            </a:r>
            <a:r>
              <a:rPr lang="en-IN" dirty="0" err="1"/>
              <a:t>vpc</a:t>
            </a:r>
            <a:r>
              <a:rPr lang="en-IN" dirty="0"/>
              <a:t>"</a:t>
            </a:r>
          </a:p>
          <a:p>
            <a:pPr lvl="7"/>
            <a:r>
              <a:rPr lang="en-IN" dirty="0"/>
              <a:t>  }</a:t>
            </a:r>
          </a:p>
          <a:p>
            <a:pPr lvl="7"/>
            <a:r>
              <a:rPr lang="en-IN" dirty="0"/>
              <a:t>}</a:t>
            </a:r>
          </a:p>
          <a:p>
            <a:r>
              <a:rPr lang="en-IN" dirty="0"/>
              <a:t>The general syntax is:</a:t>
            </a:r>
          </a:p>
          <a:p>
            <a:pPr lvl="6"/>
            <a:r>
              <a:rPr lang="en-IN" dirty="0"/>
              <a:t>resource "RESOURCE_TYPE" "RESOURCE_NAME" {</a:t>
            </a:r>
          </a:p>
          <a:p>
            <a:pPr lvl="6"/>
            <a:r>
              <a:rPr lang="en-IN" dirty="0"/>
              <a:t>  argument = value</a:t>
            </a:r>
          </a:p>
          <a:p>
            <a:pPr lvl="6"/>
            <a:r>
              <a:rPr lang="en-IN" dirty="0"/>
              <a:t>}</a:t>
            </a:r>
          </a:p>
          <a:p>
            <a:r>
              <a:rPr lang="en-IN" dirty="0"/>
              <a:t>Here:</a:t>
            </a:r>
          </a:p>
          <a:p>
            <a:pPr lvl="0"/>
            <a:r>
              <a:rPr lang="en-IN" dirty="0"/>
              <a:t>resource is the Terraform keyword. </a:t>
            </a:r>
          </a:p>
          <a:p>
            <a:pPr lvl="0"/>
            <a:r>
              <a:rPr lang="en-IN" dirty="0" err="1"/>
              <a:t>aws_vpc</a:t>
            </a:r>
            <a:r>
              <a:rPr lang="en-IN" dirty="0"/>
              <a:t> is the resource type. </a:t>
            </a:r>
          </a:p>
          <a:p>
            <a:pPr lvl="0"/>
            <a:r>
              <a:rPr lang="en-IN" dirty="0"/>
              <a:t>demo is the logical resource name. </a:t>
            </a:r>
          </a:p>
          <a:p>
            <a:pPr lvl="0"/>
            <a:r>
              <a:rPr lang="en-IN" dirty="0" err="1"/>
              <a:t>cidr_block</a:t>
            </a:r>
            <a:r>
              <a:rPr lang="en-IN" dirty="0"/>
              <a:t> is a resource argument. </a:t>
            </a:r>
          </a:p>
          <a:p>
            <a:r>
              <a:rPr lang="en-IN" dirty="0"/>
              <a:t>The logical name identifies the resource within the Terraform configuration.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6313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A93CB0-766D-A335-B378-420459AB851B}"/>
              </a:ext>
            </a:extLst>
          </p:cNvPr>
          <p:cNvSpPr txBox="1"/>
          <p:nvPr/>
        </p:nvSpPr>
        <p:spPr>
          <a:xfrm>
            <a:off x="2068286" y="239485"/>
            <a:ext cx="6585857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Terraform Workflow</a:t>
            </a:r>
          </a:p>
          <a:p>
            <a:endParaRPr lang="en-IN" b="1" dirty="0"/>
          </a:p>
          <a:p>
            <a:r>
              <a:rPr lang="en-IN" dirty="0"/>
              <a:t>Terraform follows a standard workflow.</a:t>
            </a:r>
          </a:p>
          <a:p>
            <a:pPr lvl="3"/>
            <a:r>
              <a:rPr lang="en-IN" dirty="0"/>
              <a:t>Write</a:t>
            </a:r>
          </a:p>
          <a:p>
            <a:pPr lvl="3"/>
            <a:r>
              <a:rPr lang="en-IN" dirty="0"/>
              <a:t>  |</a:t>
            </a:r>
          </a:p>
          <a:p>
            <a:pPr lvl="3"/>
            <a:r>
              <a:rPr lang="en-IN" dirty="0"/>
              <a:t>  v</a:t>
            </a:r>
          </a:p>
          <a:p>
            <a:pPr lvl="3"/>
            <a:r>
              <a:rPr lang="en-IN" dirty="0"/>
              <a:t>Initialize</a:t>
            </a:r>
          </a:p>
          <a:p>
            <a:pPr lvl="3"/>
            <a:r>
              <a:rPr lang="en-IN" dirty="0"/>
              <a:t>  |</a:t>
            </a:r>
          </a:p>
          <a:p>
            <a:pPr lvl="3"/>
            <a:r>
              <a:rPr lang="en-IN" dirty="0"/>
              <a:t>  v</a:t>
            </a:r>
          </a:p>
          <a:p>
            <a:pPr lvl="3"/>
            <a:r>
              <a:rPr lang="en-IN" dirty="0"/>
              <a:t>Validate</a:t>
            </a:r>
          </a:p>
          <a:p>
            <a:pPr lvl="3"/>
            <a:r>
              <a:rPr lang="en-IN" dirty="0"/>
              <a:t>  |</a:t>
            </a:r>
          </a:p>
          <a:p>
            <a:pPr lvl="3"/>
            <a:r>
              <a:rPr lang="en-IN" dirty="0"/>
              <a:t>  v</a:t>
            </a:r>
          </a:p>
          <a:p>
            <a:pPr lvl="3"/>
            <a:r>
              <a:rPr lang="en-IN" dirty="0"/>
              <a:t>Plan</a:t>
            </a:r>
          </a:p>
          <a:p>
            <a:pPr lvl="3"/>
            <a:r>
              <a:rPr lang="en-IN" dirty="0"/>
              <a:t>  |</a:t>
            </a:r>
          </a:p>
          <a:p>
            <a:pPr lvl="3"/>
            <a:r>
              <a:rPr lang="en-IN" dirty="0"/>
              <a:t>  v</a:t>
            </a:r>
          </a:p>
          <a:p>
            <a:pPr lvl="3"/>
            <a:r>
              <a:rPr lang="en-IN" dirty="0"/>
              <a:t>Apply</a:t>
            </a:r>
          </a:p>
          <a:p>
            <a:pPr lvl="3"/>
            <a:r>
              <a:rPr lang="en-IN" dirty="0"/>
              <a:t>  |</a:t>
            </a:r>
          </a:p>
          <a:p>
            <a:pPr lvl="3"/>
            <a:r>
              <a:rPr lang="en-IN" dirty="0"/>
              <a:t>  v</a:t>
            </a:r>
          </a:p>
          <a:p>
            <a:pPr lvl="3"/>
            <a:r>
              <a:rPr lang="en-IN" dirty="0"/>
              <a:t>Manage</a:t>
            </a:r>
          </a:p>
          <a:p>
            <a:pPr lvl="3"/>
            <a:r>
              <a:rPr lang="en-IN" dirty="0"/>
              <a:t>  |</a:t>
            </a:r>
          </a:p>
          <a:p>
            <a:pPr lvl="3"/>
            <a:r>
              <a:rPr lang="en-IN" dirty="0"/>
              <a:t>  v</a:t>
            </a:r>
          </a:p>
          <a:p>
            <a:pPr lvl="3"/>
            <a:r>
              <a:rPr lang="en-IN" dirty="0"/>
              <a:t>Destroy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6301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AF4CA9-8857-416E-468E-1D0B139A39A9}"/>
              </a:ext>
            </a:extLst>
          </p:cNvPr>
          <p:cNvSpPr txBox="1"/>
          <p:nvPr/>
        </p:nvSpPr>
        <p:spPr>
          <a:xfrm>
            <a:off x="0" y="0"/>
            <a:ext cx="11930743" cy="7140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Terraform Variables</a:t>
            </a:r>
          </a:p>
          <a:p>
            <a:r>
              <a:rPr lang="en-IN" sz="1600" dirty="0"/>
              <a:t>Variables make Terraform configurations reusable and flexible.</a:t>
            </a:r>
          </a:p>
          <a:p>
            <a:r>
              <a:rPr lang="en-IN" sz="1600" dirty="0"/>
              <a:t>Instead of hardcoding values, engineers can pass different values for different environments.</a:t>
            </a:r>
          </a:p>
          <a:p>
            <a:r>
              <a:rPr lang="en-IN" sz="1600" dirty="0"/>
              <a:t>Example:</a:t>
            </a:r>
          </a:p>
          <a:p>
            <a:r>
              <a:rPr lang="en-IN" sz="1600" b="1" dirty="0"/>
              <a:t>variables.tf</a:t>
            </a:r>
          </a:p>
          <a:p>
            <a:endParaRPr lang="en-IN" sz="1600" dirty="0"/>
          </a:p>
          <a:p>
            <a:r>
              <a:rPr lang="en-IN" sz="1600" b="1" dirty="0"/>
              <a:t>Terraform Outputs</a:t>
            </a:r>
          </a:p>
          <a:p>
            <a:r>
              <a:rPr lang="en-IN" sz="1600" dirty="0"/>
              <a:t>Outputs allow Terraform to display information about the infrastructure it manages.</a:t>
            </a:r>
          </a:p>
          <a:p>
            <a:r>
              <a:rPr lang="en-IN" sz="1600" dirty="0"/>
              <a:t>For example, after creating a VPC, we may want to display its ID.</a:t>
            </a:r>
          </a:p>
          <a:p>
            <a:r>
              <a:rPr lang="en-IN" sz="1600" b="1" dirty="0"/>
              <a:t>outputs.tf</a:t>
            </a:r>
          </a:p>
          <a:p>
            <a:endParaRPr lang="en-IN" sz="1600" dirty="0"/>
          </a:p>
          <a:p>
            <a:r>
              <a:rPr lang="en-IN" sz="1600" b="1" dirty="0"/>
              <a:t>Terraform State</a:t>
            </a:r>
          </a:p>
          <a:p>
            <a:r>
              <a:rPr lang="en-IN" sz="1600" dirty="0"/>
              <a:t>Terraform uses a state file to maintain information about the infrastructure it manages.</a:t>
            </a:r>
          </a:p>
          <a:p>
            <a:r>
              <a:rPr lang="en-IN" sz="1600" dirty="0"/>
              <a:t>The default local state file is:</a:t>
            </a:r>
          </a:p>
          <a:p>
            <a:r>
              <a:rPr lang="en-IN" sz="1600" dirty="0" err="1"/>
              <a:t>terraform.tfstate</a:t>
            </a:r>
            <a:endParaRPr lang="en-IN" sz="1600" dirty="0"/>
          </a:p>
          <a:p>
            <a:r>
              <a:rPr lang="en-IN" sz="1600" dirty="0"/>
              <a:t>State helps Terraform:</a:t>
            </a:r>
          </a:p>
          <a:p>
            <a:pPr lvl="0"/>
            <a:r>
              <a:rPr lang="en-IN" sz="1600" dirty="0"/>
              <a:t>Track existing resources </a:t>
            </a:r>
          </a:p>
          <a:p>
            <a:pPr lvl="0"/>
            <a:r>
              <a:rPr lang="en-IN" sz="1600" dirty="0"/>
              <a:t>Map configuration to real infrastructure </a:t>
            </a:r>
          </a:p>
          <a:p>
            <a:pPr lvl="0"/>
            <a:r>
              <a:rPr lang="en-IN" sz="1600" dirty="0"/>
              <a:t>Identify infrastructure changes </a:t>
            </a:r>
          </a:p>
          <a:p>
            <a:pPr lvl="0"/>
            <a:r>
              <a:rPr lang="en-IN" sz="1600" dirty="0"/>
              <a:t>Calculate execution plans </a:t>
            </a:r>
          </a:p>
          <a:p>
            <a:pPr lvl="0"/>
            <a:r>
              <a:rPr lang="en-IN" sz="1600" dirty="0"/>
              <a:t>Manage resource dependencies</a:t>
            </a:r>
          </a:p>
          <a:p>
            <a:br>
              <a:rPr lang="en-IN" sz="1600" dirty="0"/>
            </a:br>
            <a:r>
              <a:rPr lang="en-IN" sz="1600" b="1" dirty="0"/>
              <a:t>Terraform Modules</a:t>
            </a:r>
          </a:p>
          <a:p>
            <a:r>
              <a:rPr lang="en-IN" sz="1600" dirty="0"/>
              <a:t>Modules are reusable collections of Terraform configuration files.</a:t>
            </a:r>
          </a:p>
          <a:p>
            <a:r>
              <a:rPr lang="en-IN" sz="1600" dirty="0"/>
              <a:t>They help organizations standardize infrastructure deployments and avoid duplicating code</a:t>
            </a:r>
            <a:r>
              <a:rPr lang="en-IN" dirty="0"/>
              <a:t>.</a:t>
            </a:r>
          </a:p>
          <a:p>
            <a:r>
              <a:rPr lang="en-IN" b="1" dirty="0"/>
              <a:t>Benefits of modules: </a:t>
            </a:r>
            <a:r>
              <a:rPr lang="en-IN" dirty="0"/>
              <a:t>Code reusability , Standardization , Easier maintenance , Simplified infrastructure management </a:t>
            </a:r>
          </a:p>
          <a:p>
            <a:pPr lvl="0"/>
            <a:r>
              <a:rPr lang="en-IN" dirty="0"/>
              <a:t>Consistent deployments across environments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0707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733B35E-F0A3-646B-C5EC-5AA55DB77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113834"/>
              </p:ext>
            </p:extLst>
          </p:nvPr>
        </p:nvGraphicFramePr>
        <p:xfrm>
          <a:off x="326571" y="891846"/>
          <a:ext cx="11538858" cy="57702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69429">
                  <a:extLst>
                    <a:ext uri="{9D8B030D-6E8A-4147-A177-3AD203B41FA5}">
                      <a16:colId xmlns:a16="http://schemas.microsoft.com/office/drawing/2014/main" val="2496522285"/>
                    </a:ext>
                  </a:extLst>
                </a:gridCol>
                <a:gridCol w="5769429">
                  <a:extLst>
                    <a:ext uri="{9D8B030D-6E8A-4147-A177-3AD203B41FA5}">
                      <a16:colId xmlns:a16="http://schemas.microsoft.com/office/drawing/2014/main" val="256874906"/>
                    </a:ext>
                  </a:extLst>
                </a:gridCol>
              </a:tblGrid>
              <a:tr h="443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Command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Description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530387368"/>
                  </a:ext>
                </a:extLst>
              </a:tr>
              <a:tr h="443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terraform init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Initialize the working directory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858066480"/>
                  </a:ext>
                </a:extLst>
              </a:tr>
              <a:tr h="443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terraform fmt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Format Terraform files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980114649"/>
                  </a:ext>
                </a:extLst>
              </a:tr>
              <a:tr h="443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terraform validate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Validate configuration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80377529"/>
                  </a:ext>
                </a:extLst>
              </a:tr>
              <a:tr h="443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terraform plan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Preview infrastructure changes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536075296"/>
                  </a:ext>
                </a:extLst>
              </a:tr>
              <a:tr h="443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terraform apply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Apply infrastructure changes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816023589"/>
                  </a:ext>
                </a:extLst>
              </a:tr>
              <a:tr h="443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terraform destroy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Destroy managed infrastructure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154737437"/>
                  </a:ext>
                </a:extLst>
              </a:tr>
              <a:tr h="443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terraform show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Display state or a saved plan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603652141"/>
                  </a:ext>
                </a:extLst>
              </a:tr>
              <a:tr h="443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terraform output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Display output values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904551849"/>
                  </a:ext>
                </a:extLst>
              </a:tr>
              <a:tr h="443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terraform state list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List resources in state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964469975"/>
                  </a:ext>
                </a:extLst>
              </a:tr>
              <a:tr h="443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terraform import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Import existing infrastructure into state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58964774"/>
                  </a:ext>
                </a:extLst>
              </a:tr>
              <a:tr h="443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terraform providers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Display provider requirements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671809562"/>
                  </a:ext>
                </a:extLst>
              </a:tr>
              <a:tr h="443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terraform workspace list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List Terraform workspaces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667403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C085C6D-4D90-E799-E6B5-0F070DB4F907}"/>
              </a:ext>
            </a:extLst>
          </p:cNvPr>
          <p:cNvSpPr txBox="1"/>
          <p:nvPr/>
        </p:nvSpPr>
        <p:spPr>
          <a:xfrm>
            <a:off x="4267288" y="195935"/>
            <a:ext cx="73095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Common Terraform Commands</a:t>
            </a:r>
          </a:p>
        </p:txBody>
      </p:sp>
    </p:spTree>
    <p:extLst>
      <p:ext uri="{BB962C8B-B14F-4D97-AF65-F5344CB8AC3E}">
        <p14:creationId xmlns:p14="http://schemas.microsoft.com/office/powerpoint/2010/main" val="3669167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ADA442-46DA-EBF6-0757-D85DB31751E3}"/>
              </a:ext>
            </a:extLst>
          </p:cNvPr>
          <p:cNvSpPr txBox="1"/>
          <p:nvPr/>
        </p:nvSpPr>
        <p:spPr>
          <a:xfrm>
            <a:off x="457199" y="0"/>
            <a:ext cx="11408229" cy="7048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8"/>
            <a:r>
              <a:rPr lang="en-IN" b="1" dirty="0"/>
              <a:t>Where does AI fit?</a:t>
            </a:r>
          </a:p>
          <a:p>
            <a:pPr lvl="8"/>
            <a:r>
              <a:rPr lang="en-IN" dirty="0"/>
              <a:t>AI can assist with:</a:t>
            </a:r>
          </a:p>
          <a:p>
            <a:pPr lvl="8"/>
            <a:r>
              <a:rPr lang="en-IN" dirty="0"/>
              <a:t>Requirements</a:t>
            </a:r>
          </a:p>
          <a:p>
            <a:pPr lvl="8"/>
            <a:r>
              <a:rPr lang="en-IN" dirty="0"/>
              <a:t>    ↓</a:t>
            </a:r>
          </a:p>
          <a:p>
            <a:pPr lvl="8"/>
            <a:r>
              <a:rPr lang="en-IN" dirty="0"/>
              <a:t>Architecture</a:t>
            </a:r>
          </a:p>
          <a:p>
            <a:pPr lvl="8"/>
            <a:r>
              <a:rPr lang="en-IN" dirty="0"/>
              <a:t>    ↓</a:t>
            </a:r>
          </a:p>
          <a:p>
            <a:pPr lvl="8"/>
            <a:r>
              <a:rPr lang="en-IN" dirty="0"/>
              <a:t>Terraform Generation</a:t>
            </a:r>
          </a:p>
          <a:p>
            <a:pPr lvl="8"/>
            <a:r>
              <a:rPr lang="en-IN" dirty="0"/>
              <a:t>    ↓</a:t>
            </a:r>
          </a:p>
          <a:p>
            <a:pPr lvl="8"/>
            <a:r>
              <a:rPr lang="en-IN" dirty="0"/>
              <a:t>Code Review</a:t>
            </a:r>
          </a:p>
          <a:p>
            <a:pPr lvl="8"/>
            <a:r>
              <a:rPr lang="en-IN" dirty="0"/>
              <a:t>    ↓</a:t>
            </a:r>
          </a:p>
          <a:p>
            <a:pPr lvl="8"/>
            <a:r>
              <a:rPr lang="en-IN" dirty="0"/>
              <a:t>Security Analysis</a:t>
            </a:r>
          </a:p>
          <a:p>
            <a:pPr lvl="8"/>
            <a:r>
              <a:rPr lang="en-IN" dirty="0"/>
              <a:t>    ↓</a:t>
            </a:r>
          </a:p>
          <a:p>
            <a:pPr lvl="8"/>
            <a:r>
              <a:rPr lang="en-IN" dirty="0"/>
              <a:t>Troubleshooting</a:t>
            </a:r>
          </a:p>
          <a:p>
            <a:pPr lvl="8"/>
            <a:r>
              <a:rPr lang="en-IN" dirty="0"/>
              <a:t>    ↓</a:t>
            </a:r>
          </a:p>
          <a:p>
            <a:pPr lvl="8"/>
            <a:r>
              <a:rPr lang="en-IN" dirty="0"/>
              <a:t>Documentation</a:t>
            </a:r>
          </a:p>
          <a:p>
            <a:pPr lvl="8"/>
            <a:r>
              <a:rPr lang="en-IN" dirty="0"/>
              <a:t>    ↓</a:t>
            </a:r>
          </a:p>
          <a:p>
            <a:pPr lvl="8"/>
            <a:r>
              <a:rPr lang="en-IN" dirty="0"/>
              <a:t>Optimization</a:t>
            </a:r>
          </a:p>
          <a:p>
            <a:r>
              <a:rPr lang="en-IN" sz="1600" dirty="0"/>
              <a:t>AI does </a:t>
            </a:r>
            <a:r>
              <a:rPr lang="en-IN" sz="1600" b="1" dirty="0"/>
              <a:t>not replace Terraform</a:t>
            </a:r>
            <a:r>
              <a:rPr lang="en-IN" sz="1600" dirty="0"/>
              <a:t>.</a:t>
            </a:r>
          </a:p>
          <a:p>
            <a:r>
              <a:rPr lang="en-IN" sz="1600" dirty="0"/>
              <a:t>Terraform remains responsible for:</a:t>
            </a:r>
          </a:p>
          <a:p>
            <a:pPr lvl="0"/>
            <a:r>
              <a:rPr lang="en-IN" sz="1600" dirty="0"/>
              <a:t>State management </a:t>
            </a:r>
          </a:p>
          <a:p>
            <a:pPr lvl="0"/>
            <a:r>
              <a:rPr lang="en-IN" sz="1600" dirty="0"/>
              <a:t>Dependency resolution </a:t>
            </a:r>
          </a:p>
          <a:p>
            <a:pPr lvl="0"/>
            <a:r>
              <a:rPr lang="en-IN" sz="1600" dirty="0"/>
              <a:t>Planning </a:t>
            </a:r>
          </a:p>
          <a:p>
            <a:pPr lvl="0"/>
            <a:r>
              <a:rPr lang="en-IN" sz="1600" dirty="0"/>
              <a:t>Resource creation </a:t>
            </a:r>
          </a:p>
          <a:p>
            <a:pPr lvl="0"/>
            <a:r>
              <a:rPr lang="en-IN" sz="1600" dirty="0"/>
              <a:t>Resource modification </a:t>
            </a:r>
          </a:p>
          <a:p>
            <a:pPr lvl="0"/>
            <a:r>
              <a:rPr lang="en-IN" sz="1600" dirty="0"/>
              <a:t>Resource deletion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8087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F4C6C4-7A88-A456-FCF6-CC3A0F62A027}"/>
              </a:ext>
            </a:extLst>
          </p:cNvPr>
          <p:cNvSpPr txBox="1"/>
          <p:nvPr/>
        </p:nvSpPr>
        <p:spPr>
          <a:xfrm>
            <a:off x="163286" y="76200"/>
            <a:ext cx="118980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AI for Terraform Code Generation</a:t>
            </a:r>
          </a:p>
          <a:p>
            <a:endParaRPr lang="en-IN" b="1" dirty="0"/>
          </a:p>
          <a:p>
            <a:r>
              <a:rPr lang="en-IN" dirty="0"/>
              <a:t>One of the simplest AI use cases is generating Terraform code from natural language.</a:t>
            </a:r>
          </a:p>
          <a:p>
            <a:endParaRPr lang="en-IN" dirty="0"/>
          </a:p>
          <a:p>
            <a:r>
              <a:rPr lang="en-IN" dirty="0"/>
              <a:t>For example:</a:t>
            </a:r>
          </a:p>
          <a:p>
            <a:endParaRPr lang="en-IN" dirty="0"/>
          </a:p>
          <a:p>
            <a:r>
              <a:rPr lang="en-IN" b="1" dirty="0"/>
              <a:t>“Create an Azure Storage Account in Central India with private access, HTTPS-only traffic and a Standard locally redundant storage account.”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AI can generate something similar to:</a:t>
            </a:r>
          </a:p>
          <a:p>
            <a:endParaRPr lang="en-IN" dirty="0"/>
          </a:p>
          <a:p>
            <a:r>
              <a:rPr lang="en-IN" dirty="0"/>
              <a:t>resource "</a:t>
            </a:r>
            <a:r>
              <a:rPr lang="en-IN" dirty="0" err="1"/>
              <a:t>azurerm_storage_account</a:t>
            </a:r>
            <a:r>
              <a:rPr lang="en-IN" dirty="0"/>
              <a:t>" "storage" {</a:t>
            </a:r>
          </a:p>
          <a:p>
            <a:r>
              <a:rPr lang="en-IN" dirty="0"/>
              <a:t>  name                     = "stdevopsdemo001"</a:t>
            </a:r>
          </a:p>
          <a:p>
            <a:r>
              <a:rPr lang="en-IN" dirty="0"/>
              <a:t>  </a:t>
            </a:r>
            <a:r>
              <a:rPr lang="en-IN" dirty="0" err="1"/>
              <a:t>resource_group_name</a:t>
            </a:r>
            <a:r>
              <a:rPr lang="en-IN" dirty="0"/>
              <a:t>      = azurerm_resource_group.rg.name</a:t>
            </a:r>
          </a:p>
          <a:p>
            <a:r>
              <a:rPr lang="en-IN" dirty="0"/>
              <a:t>  location                 = </a:t>
            </a:r>
            <a:r>
              <a:rPr lang="en-IN" dirty="0" err="1"/>
              <a:t>azurerm_resource_group.rg.location</a:t>
            </a:r>
            <a:endParaRPr lang="en-IN" dirty="0"/>
          </a:p>
          <a:p>
            <a:r>
              <a:rPr lang="en-IN" dirty="0"/>
              <a:t>  </a:t>
            </a:r>
            <a:r>
              <a:rPr lang="en-IN" dirty="0" err="1"/>
              <a:t>account_tier</a:t>
            </a:r>
            <a:r>
              <a:rPr lang="en-IN" dirty="0"/>
              <a:t>              = "Standard"</a:t>
            </a:r>
          </a:p>
          <a:p>
            <a:r>
              <a:rPr lang="en-IN" dirty="0"/>
              <a:t>  </a:t>
            </a:r>
            <a:r>
              <a:rPr lang="en-IN" dirty="0" err="1"/>
              <a:t>account_replication_type</a:t>
            </a:r>
            <a:r>
              <a:rPr lang="en-IN" dirty="0"/>
              <a:t> = "LRS"</a:t>
            </a:r>
          </a:p>
          <a:p>
            <a:endParaRPr lang="en-IN" dirty="0"/>
          </a:p>
          <a:p>
            <a:r>
              <a:rPr lang="en-IN" dirty="0"/>
              <a:t>  </a:t>
            </a:r>
            <a:r>
              <a:rPr lang="en-IN" dirty="0" err="1"/>
              <a:t>https_traffic_only_enabled</a:t>
            </a:r>
            <a:r>
              <a:rPr lang="en-IN" dirty="0"/>
              <a:t> = true</a:t>
            </a:r>
          </a:p>
          <a:p>
            <a:endParaRPr lang="en-IN" dirty="0"/>
          </a:p>
          <a:p>
            <a:r>
              <a:rPr lang="en-IN" dirty="0"/>
              <a:t>  </a:t>
            </a:r>
            <a:r>
              <a:rPr lang="en-IN" dirty="0" err="1"/>
              <a:t>min_tls_version</a:t>
            </a:r>
            <a:r>
              <a:rPr lang="en-IN" dirty="0"/>
              <a:t> = "TLS1_2"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9CC64D-876D-1261-F13D-F88BC11BEDCA}"/>
              </a:ext>
            </a:extLst>
          </p:cNvPr>
          <p:cNvSpPr txBox="1"/>
          <p:nvPr/>
        </p:nvSpPr>
        <p:spPr>
          <a:xfrm>
            <a:off x="7326086" y="2432956"/>
            <a:ext cx="431074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But generated code must go through:</a:t>
            </a:r>
          </a:p>
          <a:p>
            <a:r>
              <a:rPr lang="en-IN" dirty="0"/>
              <a:t>AI</a:t>
            </a:r>
          </a:p>
          <a:p>
            <a:r>
              <a:rPr lang="en-IN" dirty="0"/>
              <a:t> ↓</a:t>
            </a:r>
          </a:p>
          <a:p>
            <a:r>
              <a:rPr lang="en-IN" dirty="0"/>
              <a:t>terraform </a:t>
            </a:r>
            <a:r>
              <a:rPr lang="en-IN" dirty="0" err="1"/>
              <a:t>fmt</a:t>
            </a:r>
            <a:endParaRPr lang="en-IN" dirty="0"/>
          </a:p>
          <a:p>
            <a:r>
              <a:rPr lang="en-IN" dirty="0"/>
              <a:t> ↓</a:t>
            </a:r>
          </a:p>
          <a:p>
            <a:r>
              <a:rPr lang="en-IN" dirty="0"/>
              <a:t>terraform validate</a:t>
            </a:r>
          </a:p>
          <a:p>
            <a:r>
              <a:rPr lang="en-IN" dirty="0"/>
              <a:t> ↓</a:t>
            </a:r>
          </a:p>
          <a:p>
            <a:r>
              <a:rPr lang="en-IN" dirty="0"/>
              <a:t>Security Scan</a:t>
            </a:r>
          </a:p>
          <a:p>
            <a:r>
              <a:rPr lang="en-IN" dirty="0"/>
              <a:t> ↓</a:t>
            </a:r>
          </a:p>
          <a:p>
            <a:r>
              <a:rPr lang="en-IN" dirty="0"/>
              <a:t>terraform plan</a:t>
            </a:r>
          </a:p>
          <a:p>
            <a:r>
              <a:rPr lang="en-IN" dirty="0"/>
              <a:t> ↓</a:t>
            </a:r>
          </a:p>
          <a:p>
            <a:r>
              <a:rPr lang="en-IN" dirty="0"/>
              <a:t>Code Review</a:t>
            </a:r>
          </a:p>
          <a:p>
            <a:r>
              <a:rPr lang="en-IN" dirty="0"/>
              <a:t> ↓</a:t>
            </a:r>
          </a:p>
          <a:p>
            <a:r>
              <a:rPr lang="en-IN" dirty="0"/>
              <a:t>terraform apply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8128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957C91-2929-E479-F16B-A181DAD142D7}"/>
              </a:ext>
            </a:extLst>
          </p:cNvPr>
          <p:cNvSpPr txBox="1"/>
          <p:nvPr/>
        </p:nvSpPr>
        <p:spPr>
          <a:xfrm>
            <a:off x="402771" y="402771"/>
            <a:ext cx="1133946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Prompt engineering example</a:t>
            </a:r>
          </a:p>
          <a:p>
            <a:endParaRPr lang="en-IN" b="1" dirty="0"/>
          </a:p>
          <a:p>
            <a:r>
              <a:rPr lang="en-IN" dirty="0"/>
              <a:t>Weak prompt:</a:t>
            </a:r>
          </a:p>
          <a:p>
            <a:endParaRPr lang="en-IN" dirty="0"/>
          </a:p>
          <a:p>
            <a:r>
              <a:rPr lang="en-IN" dirty="0"/>
              <a:t>Create Terraform for a VM.</a:t>
            </a:r>
          </a:p>
          <a:p>
            <a:endParaRPr lang="en-IN" dirty="0"/>
          </a:p>
          <a:p>
            <a:r>
              <a:rPr lang="en-IN" dirty="0"/>
              <a:t>Better prompt:</a:t>
            </a:r>
          </a:p>
          <a:p>
            <a:endParaRPr lang="en-IN" dirty="0"/>
          </a:p>
          <a:p>
            <a:r>
              <a:rPr lang="en-IN" dirty="0"/>
              <a:t>Generate Terraform using the </a:t>
            </a:r>
            <a:r>
              <a:rPr lang="en-IN" dirty="0" err="1"/>
              <a:t>azurerm</a:t>
            </a:r>
            <a:r>
              <a:rPr lang="en-IN" dirty="0"/>
              <a:t> provider to deploy an Ubuntu Linux VM in Central India. Use an existing </a:t>
            </a:r>
            <a:r>
              <a:rPr lang="en-IN" dirty="0" err="1"/>
              <a:t>VNet</a:t>
            </a:r>
            <a:r>
              <a:rPr lang="en-IN" dirty="0"/>
              <a:t> and subnet as inputs. Use variables for VM size, admin username and resource group. Do not hard-code credentials. Include outputs for private IP and VM ID.</a:t>
            </a:r>
          </a:p>
          <a:p>
            <a:r>
              <a:rPr lang="en-IN" dirty="0"/>
              <a:t>The more architectural context you provide, the more useful the generated result becomes.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7131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2FB1E3-B557-B73C-91F5-E8EEE206AFB7}"/>
              </a:ext>
            </a:extLst>
          </p:cNvPr>
          <p:cNvSpPr txBox="1"/>
          <p:nvPr/>
        </p:nvSpPr>
        <p:spPr>
          <a:xfrm>
            <a:off x="674914" y="228600"/>
            <a:ext cx="349431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What AI can help with</a:t>
            </a:r>
          </a:p>
          <a:p>
            <a:r>
              <a:rPr lang="en-IN" dirty="0"/>
              <a:t>AI can generate:</a:t>
            </a:r>
          </a:p>
          <a:p>
            <a:pPr lvl="0"/>
            <a:r>
              <a:rPr lang="en-IN" dirty="0"/>
              <a:t>Module structure </a:t>
            </a:r>
          </a:p>
          <a:p>
            <a:pPr lvl="0"/>
            <a:r>
              <a:rPr lang="en-IN" dirty="0"/>
              <a:t>Variables </a:t>
            </a:r>
          </a:p>
          <a:p>
            <a:pPr lvl="0"/>
            <a:r>
              <a:rPr lang="en-IN" dirty="0"/>
              <a:t>Outputs </a:t>
            </a:r>
          </a:p>
          <a:p>
            <a:pPr lvl="0"/>
            <a:r>
              <a:rPr lang="en-IN" dirty="0"/>
              <a:t>README </a:t>
            </a:r>
          </a:p>
          <a:p>
            <a:pPr lvl="0"/>
            <a:r>
              <a:rPr lang="en-IN" dirty="0"/>
              <a:t>Examples </a:t>
            </a:r>
          </a:p>
          <a:p>
            <a:pPr lvl="0"/>
            <a:r>
              <a:rPr lang="en-IN" dirty="0"/>
              <a:t>Validation rules </a:t>
            </a:r>
          </a:p>
          <a:p>
            <a:pPr lvl="0"/>
            <a:r>
              <a:rPr lang="en-IN" dirty="0"/>
              <a:t>Naming conventions </a:t>
            </a:r>
          </a:p>
          <a:p>
            <a:pPr lvl="0"/>
            <a:r>
              <a:rPr lang="en-IN" dirty="0"/>
              <a:t>Resource dependencies 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1F09CF-9115-55EE-2F3A-A6599A960BE6}"/>
              </a:ext>
            </a:extLst>
          </p:cNvPr>
          <p:cNvSpPr txBox="1"/>
          <p:nvPr/>
        </p:nvSpPr>
        <p:spPr>
          <a:xfrm>
            <a:off x="5867400" y="228600"/>
            <a:ext cx="288412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But we should verify:</a:t>
            </a:r>
          </a:p>
          <a:p>
            <a:pPr lvl="0"/>
            <a:r>
              <a:rPr lang="en-IN" dirty="0"/>
              <a:t>Provider compatibility </a:t>
            </a:r>
          </a:p>
          <a:p>
            <a:pPr lvl="0"/>
            <a:r>
              <a:rPr lang="en-IN" dirty="0"/>
              <a:t>Terraform version </a:t>
            </a:r>
          </a:p>
          <a:p>
            <a:pPr lvl="0"/>
            <a:r>
              <a:rPr lang="en-IN" dirty="0"/>
              <a:t>Azure resource API </a:t>
            </a:r>
            <a:r>
              <a:rPr lang="en-IN" dirty="0" err="1"/>
              <a:t>behavior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Security configuration </a:t>
            </a:r>
          </a:p>
          <a:p>
            <a:pPr lvl="0"/>
            <a:r>
              <a:rPr lang="en-IN" dirty="0"/>
              <a:t>Module interfaces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DFDED8-6E12-98FF-FA2A-F5ED42C233D4}"/>
              </a:ext>
            </a:extLst>
          </p:cNvPr>
          <p:cNvSpPr txBox="1"/>
          <p:nvPr/>
        </p:nvSpPr>
        <p:spPr>
          <a:xfrm>
            <a:off x="674914" y="3429000"/>
            <a:ext cx="11277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AI-Assisted Infrastructure Design</a:t>
            </a:r>
          </a:p>
          <a:p>
            <a:r>
              <a:rPr lang="en-IN" dirty="0"/>
              <a:t>AI can assist before Terraform is written.</a:t>
            </a:r>
          </a:p>
          <a:p>
            <a:endParaRPr lang="en-IN" dirty="0"/>
          </a:p>
          <a:p>
            <a:r>
              <a:rPr lang="en-IN" dirty="0"/>
              <a:t>Instead of starting with:</a:t>
            </a:r>
          </a:p>
          <a:p>
            <a:r>
              <a:rPr lang="en-IN" dirty="0"/>
              <a:t>Give me Terraform.</a:t>
            </a:r>
          </a:p>
          <a:p>
            <a:endParaRPr lang="en-IN" dirty="0"/>
          </a:p>
          <a:p>
            <a:r>
              <a:rPr lang="en-IN" dirty="0"/>
              <a:t>Start with:</a:t>
            </a:r>
          </a:p>
          <a:p>
            <a:r>
              <a:rPr lang="en-IN" dirty="0"/>
              <a:t>Design an architecture for a highly available web application with private networking, centralized monitoring and controlled outbound access.</a:t>
            </a:r>
          </a:p>
          <a:p>
            <a:br>
              <a:rPr lang="en-IN" dirty="0"/>
            </a:br>
            <a:r>
              <a:rPr lang="en-IN" dirty="0"/>
              <a:t>Then translate the architecture into Terraform.</a:t>
            </a:r>
          </a:p>
        </p:txBody>
      </p:sp>
    </p:spTree>
    <p:extLst>
      <p:ext uri="{BB962C8B-B14F-4D97-AF65-F5344CB8AC3E}">
        <p14:creationId xmlns:p14="http://schemas.microsoft.com/office/powerpoint/2010/main" val="1350016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1368</Words>
  <Application>Microsoft Office PowerPoint</Application>
  <PresentationFormat>Widescreen</PresentationFormat>
  <Paragraphs>312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7</cp:revision>
  <dcterms:created xsi:type="dcterms:W3CDTF">2026-10-06T08:36:17Z</dcterms:created>
  <dcterms:modified xsi:type="dcterms:W3CDTF">2026-10-07T03:51:21Z</dcterms:modified>
</cp:coreProperties>
</file>